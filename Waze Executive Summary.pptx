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Lst>
  <p:sldSz cy="10058400" cx="7772400"/>
  <p:notesSz cx="6858000" cy="9144000"/>
  <p:embeddedFontLst>
    <p:embeddedFont>
      <p:font typeface="Google Sans SemiBold"/>
      <p:regular r:id="rId12"/>
      <p:bold r:id="rId13"/>
      <p:italic r:id="rId14"/>
      <p:boldItalic r:id="rId15"/>
    </p:embeddedFont>
    <p:embeddedFont>
      <p:font typeface="Roboto"/>
      <p:regular r:id="rId16"/>
      <p:bold r:id="rId17"/>
      <p:italic r:id="rId18"/>
      <p:boldItalic r:id="rId19"/>
    </p:embeddedFont>
    <p:embeddedFont>
      <p:font typeface="PT Sans Narrow"/>
      <p:regular r:id="rId20"/>
      <p:bold r:id="rId21"/>
    </p:embeddedFont>
    <p:embeddedFont>
      <p:font typeface="Lato"/>
      <p:regular r:id="rId22"/>
      <p:bold r:id="rId23"/>
      <p:italic r:id="rId24"/>
      <p:boldItalic r:id="rId25"/>
    </p:embeddedFont>
    <p:embeddedFont>
      <p:font typeface="Google Sans"/>
      <p:regular r:id="rId26"/>
      <p:bold r:id="rId27"/>
      <p:italic r:id="rId28"/>
      <p:boldItalic r:id="rId29"/>
    </p:embeddedFont>
    <p:embeddedFont>
      <p:font typeface="Work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TSansNarrow-regular.fntdata"/><Relationship Id="rId22" Type="http://schemas.openxmlformats.org/officeDocument/2006/relationships/font" Target="fonts/Lato-regular.fntdata"/><Relationship Id="rId21" Type="http://schemas.openxmlformats.org/officeDocument/2006/relationships/font" Target="fonts/PTSansNarrow-bold.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GoogleSans-regular.fntdata"/><Relationship Id="rId25" Type="http://schemas.openxmlformats.org/officeDocument/2006/relationships/font" Target="fonts/Lato-boldItalic.fntdata"/><Relationship Id="rId28" Type="http://schemas.openxmlformats.org/officeDocument/2006/relationships/font" Target="fonts/GoogleSans-italic.fntdata"/><Relationship Id="rId27" Type="http://schemas.openxmlformats.org/officeDocument/2006/relationships/font" Target="fonts/GoogleSa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GoogleSans-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WorkSans-bold.fntdata"/><Relationship Id="rId30" Type="http://schemas.openxmlformats.org/officeDocument/2006/relationships/font" Target="fonts/WorkSans-regular.fntdata"/><Relationship Id="rId11" Type="http://schemas.openxmlformats.org/officeDocument/2006/relationships/slide" Target="slides/slide5.xml"/><Relationship Id="rId33" Type="http://schemas.openxmlformats.org/officeDocument/2006/relationships/font" Target="fonts/WorkSans-boldItalic.fntdata"/><Relationship Id="rId10" Type="http://schemas.openxmlformats.org/officeDocument/2006/relationships/slide" Target="slides/slide4.xml"/><Relationship Id="rId32" Type="http://schemas.openxmlformats.org/officeDocument/2006/relationships/font" Target="fonts/WorkSans-italic.fntdata"/><Relationship Id="rId13" Type="http://schemas.openxmlformats.org/officeDocument/2006/relationships/font" Target="fonts/GoogleSansSemiBold-bold.fntdata"/><Relationship Id="rId12" Type="http://schemas.openxmlformats.org/officeDocument/2006/relationships/font" Target="fonts/GoogleSansSemiBold-regular.fntdata"/><Relationship Id="rId15" Type="http://schemas.openxmlformats.org/officeDocument/2006/relationships/font" Target="fonts/GoogleSansSemiBold-boldItalic.fntdata"/><Relationship Id="rId14" Type="http://schemas.openxmlformats.org/officeDocument/2006/relationships/font" Target="fonts/GoogleSansSemiBold-italic.fntdata"/><Relationship Id="rId17" Type="http://schemas.openxmlformats.org/officeDocument/2006/relationships/font" Target="fonts/Roboto-bold.fntdata"/><Relationship Id="rId16" Type="http://schemas.openxmlformats.org/officeDocument/2006/relationships/font" Target="fonts/Roboto-regular.fntdata"/><Relationship Id="rId19" Type="http://schemas.openxmlformats.org/officeDocument/2006/relationships/font" Target="fonts/Roboto-boldItalic.fntdata"/><Relationship Id="rId18" Type="http://schemas.openxmlformats.org/officeDocument/2006/relationships/font" Target="fonts/Robot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fa25948691_0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fa259486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f9a828696a_0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f9a82869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f763cb90d1_0_8: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f763cb90d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f868b57e13_0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f868b57e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f9f1a58aab_0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f9f1a58a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10"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6" name="Google Shape;16;p2"/>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23" name="Google Shape;23;p2"/>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41" name="Google Shape;41;p2"/>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48" name="Google Shape;48;p2"/>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b="1" lang="en" sz="2100">
                <a:latin typeface="Google Sans"/>
                <a:ea typeface="Google Sans"/>
                <a:cs typeface="Google Sans"/>
                <a:sym typeface="Google Sans"/>
              </a:rPr>
              <a:t>Click here to edit title</a:t>
            </a:r>
            <a:endParaRPr b="1" sz="2100">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p:nvPr>
            <p:ph idx="2" type="pic"/>
          </p:nvPr>
        </p:nvSpPr>
        <p:spPr>
          <a:xfrm>
            <a:off x="4583375" y="3389400"/>
            <a:ext cx="3035400" cy="2495700"/>
          </a:xfrm>
          <a:prstGeom prst="rect">
            <a:avLst/>
          </a:prstGeom>
          <a:noFill/>
          <a:ln cap="flat" cmpd="sng" w="19050">
            <a:solidFill>
              <a:srgbClr val="000000"/>
            </a:solidFill>
            <a:prstDash val="solid"/>
            <a:round/>
            <a:headEnd len="sm" w="sm" type="none"/>
            <a:tailEnd len="sm" w="sm" type="none"/>
          </a:ln>
        </p:spPr>
      </p:sp>
      <p:sp>
        <p:nvSpPr>
          <p:cNvPr id="64" name="Google Shape;64;p2"/>
          <p:cNvSpPr txBox="1"/>
          <p:nvPr/>
        </p:nvSpPr>
        <p:spPr>
          <a:xfrm>
            <a:off x="4541175" y="5895125"/>
            <a:ext cx="30744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65" name="Shape 65"/>
        <p:cNvGrpSpPr/>
        <p:nvPr/>
      </p:nvGrpSpPr>
      <p:grpSpPr>
        <a:xfrm>
          <a:off x="0" y="0"/>
          <a:ext cx="0" cy="0"/>
          <a:chOff x="0" y="0"/>
          <a:chExt cx="0" cy="0"/>
        </a:xfrm>
      </p:grpSpPr>
      <p:cxnSp>
        <p:nvCxnSpPr>
          <p:cNvPr id="66" name="Google Shape;66;p3"/>
          <p:cNvCxnSpPr/>
          <p:nvPr/>
        </p:nvCxnSpPr>
        <p:spPr>
          <a:xfrm>
            <a:off x="3049395" y="901911"/>
            <a:ext cx="0" cy="5924400"/>
          </a:xfrm>
          <a:prstGeom prst="straightConnector1">
            <a:avLst/>
          </a:prstGeom>
          <a:noFill/>
          <a:ln cap="flat" cmpd="sng" w="9525">
            <a:solidFill>
              <a:srgbClr val="CCCCCC"/>
            </a:solidFill>
            <a:prstDash val="solid"/>
            <a:round/>
            <a:headEnd len="med" w="med" type="none"/>
            <a:tailEnd len="med" w="med" type="none"/>
          </a:ln>
        </p:spPr>
      </p:cxnSp>
      <p:cxnSp>
        <p:nvCxnSpPr>
          <p:cNvPr id="67" name="Google Shape;67;p3"/>
          <p:cNvCxnSpPr>
            <a:stCxn id="68" idx="0"/>
          </p:cNvCxnSpPr>
          <p:nvPr/>
        </p:nvCxnSpPr>
        <p:spPr>
          <a:xfrm flipH="1">
            <a:off x="172045" y="903711"/>
            <a:ext cx="18300" cy="9187200"/>
          </a:xfrm>
          <a:prstGeom prst="straightConnector1">
            <a:avLst/>
          </a:prstGeom>
          <a:noFill/>
          <a:ln cap="flat" cmpd="sng" w="9525">
            <a:solidFill>
              <a:srgbClr val="CCCCCC"/>
            </a:solidFill>
            <a:prstDash val="solid"/>
            <a:round/>
            <a:headEnd len="med" w="med" type="none"/>
            <a:tailEnd len="med" w="med" type="none"/>
          </a:ln>
        </p:spPr>
      </p:cxnSp>
      <p:grpSp>
        <p:nvGrpSpPr>
          <p:cNvPr id="69" name="Google Shape;69;p3"/>
          <p:cNvGrpSpPr/>
          <p:nvPr/>
        </p:nvGrpSpPr>
        <p:grpSpPr>
          <a:xfrm>
            <a:off x="190345" y="900758"/>
            <a:ext cx="7581747" cy="5906"/>
            <a:chOff x="1890075" y="5241175"/>
            <a:chExt cx="4240556" cy="257700"/>
          </a:xfrm>
        </p:grpSpPr>
        <p:sp>
          <p:nvSpPr>
            <p:cNvPr id="68" name="Google Shape;68;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79" name="Google Shape;79;p3"/>
          <p:cNvSpPr/>
          <p:nvPr>
            <p:ph idx="2" type="pic"/>
          </p:nvPr>
        </p:nvSpPr>
        <p:spPr>
          <a:xfrm>
            <a:off x="3552088" y="1473363"/>
            <a:ext cx="3035400" cy="2495700"/>
          </a:xfrm>
          <a:prstGeom prst="rect">
            <a:avLst/>
          </a:prstGeom>
          <a:noFill/>
          <a:ln cap="flat" cmpd="sng" w="19050">
            <a:solidFill>
              <a:srgbClr val="000000"/>
            </a:solidFill>
            <a:prstDash val="solid"/>
            <a:round/>
            <a:headEnd len="sm" w="sm" type="none"/>
            <a:tailEnd len="sm" w="sm" type="none"/>
          </a:ln>
        </p:spPr>
      </p:sp>
      <p:sp>
        <p:nvSpPr>
          <p:cNvPr id="80" name="Google Shape;80;p3"/>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81" name="Google Shape;81;p3"/>
          <p:cNvSpPr/>
          <p:nvPr/>
        </p:nvSpPr>
        <p:spPr>
          <a:xfrm>
            <a:off x="190350" y="7617450"/>
            <a:ext cx="7581600" cy="22641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2" name="Google Shape;82;p3"/>
          <p:cNvCxnSpPr/>
          <p:nvPr/>
        </p:nvCxnSpPr>
        <p:spPr>
          <a:xfrm flipH="1">
            <a:off x="3028995" y="901911"/>
            <a:ext cx="20400" cy="8834400"/>
          </a:xfrm>
          <a:prstGeom prst="straightConnector1">
            <a:avLst/>
          </a:prstGeom>
          <a:noFill/>
          <a:ln cap="flat" cmpd="sng" w="9525">
            <a:solidFill>
              <a:srgbClr val="CCCCCC"/>
            </a:solidFill>
            <a:prstDash val="solid"/>
            <a:round/>
            <a:headEnd len="med" w="med" type="none"/>
            <a:tailEnd len="med" w="med" type="none"/>
          </a:ln>
        </p:spPr>
      </p:cxnSp>
      <p:cxnSp>
        <p:nvCxnSpPr>
          <p:cNvPr id="83" name="Google Shape;83;p3"/>
          <p:cNvCxnSpPr>
            <a:stCxn id="84" idx="0"/>
          </p:cNvCxnSpPr>
          <p:nvPr/>
        </p:nvCxnSpPr>
        <p:spPr>
          <a:xfrm flipH="1">
            <a:off x="172020" y="903608"/>
            <a:ext cx="18300" cy="9187200"/>
          </a:xfrm>
          <a:prstGeom prst="straightConnector1">
            <a:avLst/>
          </a:prstGeom>
          <a:noFill/>
          <a:ln cap="flat" cmpd="sng" w="9525">
            <a:solidFill>
              <a:srgbClr val="CCCCCC"/>
            </a:solidFill>
            <a:prstDash val="solid"/>
            <a:round/>
            <a:headEnd len="med" w="med" type="none"/>
            <a:tailEnd len="med" w="med" type="none"/>
          </a:ln>
        </p:spPr>
      </p:cxnSp>
      <p:grpSp>
        <p:nvGrpSpPr>
          <p:cNvPr id="85" name="Google Shape;85;p3"/>
          <p:cNvGrpSpPr/>
          <p:nvPr/>
        </p:nvGrpSpPr>
        <p:grpSpPr>
          <a:xfrm>
            <a:off x="190320" y="900657"/>
            <a:ext cx="7581691" cy="5901"/>
            <a:chOff x="1890075" y="5241175"/>
            <a:chExt cx="4240556" cy="257700"/>
          </a:xfrm>
        </p:grpSpPr>
        <p:sp>
          <p:nvSpPr>
            <p:cNvPr id="84" name="Google Shape;84;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6" name="Google Shape;86;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7" name="Google Shape;87;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8" name="Google Shape;88;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89" name="Google Shape;89;p3"/>
          <p:cNvGrpSpPr/>
          <p:nvPr/>
        </p:nvGrpSpPr>
        <p:grpSpPr>
          <a:xfrm>
            <a:off x="190320" y="931759"/>
            <a:ext cx="7581691" cy="5901"/>
            <a:chOff x="1890075" y="5241175"/>
            <a:chExt cx="4240556" cy="257700"/>
          </a:xfrm>
        </p:grpSpPr>
        <p:sp>
          <p:nvSpPr>
            <p:cNvPr id="90" name="Google Shape;90;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91" name="Google Shape;91;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92" name="Google Shape;92;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93" name="Google Shape;93;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94" name="Google Shape;94;p3"/>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95" name="Google Shape;95;p3"/>
          <p:cNvSpPr txBox="1"/>
          <p:nvPr/>
        </p:nvSpPr>
        <p:spPr>
          <a:xfrm>
            <a:off x="290394" y="9345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6" name="Google Shape;96;p3"/>
          <p:cNvGrpSpPr/>
          <p:nvPr/>
        </p:nvGrpSpPr>
        <p:grpSpPr>
          <a:xfrm>
            <a:off x="172024" y="1040825"/>
            <a:ext cx="137818" cy="187200"/>
            <a:chOff x="507100" y="1997600"/>
            <a:chExt cx="158375" cy="187200"/>
          </a:xfrm>
        </p:grpSpPr>
        <p:sp>
          <p:nvSpPr>
            <p:cNvPr id="97" name="Google Shape;97;p3"/>
            <p:cNvSpPr/>
            <p:nvPr/>
          </p:nvSpPr>
          <p:spPr>
            <a:xfrm>
              <a:off x="529575" y="1997600"/>
              <a:ext cx="135900" cy="187200"/>
            </a:xfrm>
            <a:prstGeom prst="chevron">
              <a:avLst>
                <a:gd fmla="val 50000" name="adj"/>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507100" y="2017025"/>
              <a:ext cx="135900" cy="146700"/>
            </a:xfrm>
            <a:prstGeom prst="chevron">
              <a:avLst>
                <a:gd fmla="val 50000" name="adj"/>
              </a:avLst>
            </a:prstGeom>
            <a:solidFill>
              <a:srgbClr val="0000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3"/>
          <p:cNvSpPr txBox="1"/>
          <p:nvPr/>
        </p:nvSpPr>
        <p:spPr>
          <a:xfrm>
            <a:off x="308719" y="28014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100" name="Google Shape;100;p3"/>
          <p:cNvGrpSpPr/>
          <p:nvPr/>
        </p:nvGrpSpPr>
        <p:grpSpPr>
          <a:xfrm>
            <a:off x="190349" y="2907725"/>
            <a:ext cx="137818" cy="187200"/>
            <a:chOff x="507100" y="1540400"/>
            <a:chExt cx="158375" cy="187200"/>
          </a:xfrm>
        </p:grpSpPr>
        <p:sp>
          <p:nvSpPr>
            <p:cNvPr id="101" name="Google Shape;101;p3"/>
            <p:cNvSpPr/>
            <p:nvPr/>
          </p:nvSpPr>
          <p:spPr>
            <a:xfrm>
              <a:off x="529575" y="1540400"/>
              <a:ext cx="135900" cy="187200"/>
            </a:xfrm>
            <a:prstGeom prst="chevron">
              <a:avLst>
                <a:gd fmla="val 50000"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507100" y="1559825"/>
              <a:ext cx="135900" cy="146700"/>
            </a:xfrm>
            <a:prstGeom prst="chevron">
              <a:avLst>
                <a:gd fmla="val 50000" name="adj"/>
              </a:avLst>
            </a:prstGeom>
            <a:solidFill>
              <a:srgbClr val="FF0000"/>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3"/>
          <p:cNvSpPr txBox="1"/>
          <p:nvPr/>
        </p:nvSpPr>
        <p:spPr>
          <a:xfrm>
            <a:off x="290394" y="5399875"/>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4" name="Google Shape;104;p3"/>
          <p:cNvGrpSpPr/>
          <p:nvPr/>
        </p:nvGrpSpPr>
        <p:grpSpPr>
          <a:xfrm>
            <a:off x="172024" y="5506200"/>
            <a:ext cx="137818" cy="187200"/>
            <a:chOff x="507100" y="1997600"/>
            <a:chExt cx="158375" cy="187200"/>
          </a:xfrm>
        </p:grpSpPr>
        <p:sp>
          <p:nvSpPr>
            <p:cNvPr id="105" name="Google Shape;105;p3"/>
            <p:cNvSpPr/>
            <p:nvPr/>
          </p:nvSpPr>
          <p:spPr>
            <a:xfrm>
              <a:off x="529575" y="1997600"/>
              <a:ext cx="135900" cy="187200"/>
            </a:xfrm>
            <a:prstGeom prst="chevron">
              <a:avLst>
                <a:gd fmla="val 50000" name="adj"/>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507100" y="2017025"/>
              <a:ext cx="135900" cy="146700"/>
            </a:xfrm>
            <a:prstGeom prst="chevron">
              <a:avLst>
                <a:gd fmla="val 50000" name="adj"/>
              </a:avLst>
            </a:prstGeom>
            <a:solidFill>
              <a:srgbClr val="FFFF00"/>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3"/>
          <p:cNvSpPr txBox="1"/>
          <p:nvPr/>
        </p:nvSpPr>
        <p:spPr>
          <a:xfrm>
            <a:off x="-2480800" y="91265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108" name="Google Shape;108;p3"/>
          <p:cNvSpPr txBox="1"/>
          <p:nvPr/>
        </p:nvSpPr>
        <p:spPr>
          <a:xfrm>
            <a:off x="315596" y="7502355"/>
            <a:ext cx="6273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9" name="Google Shape;109;p3"/>
          <p:cNvGrpSpPr/>
          <p:nvPr/>
        </p:nvGrpSpPr>
        <p:grpSpPr>
          <a:xfrm>
            <a:off x="172024" y="7607808"/>
            <a:ext cx="137818" cy="187200"/>
            <a:chOff x="507100" y="1997600"/>
            <a:chExt cx="158375" cy="187200"/>
          </a:xfrm>
        </p:grpSpPr>
        <p:sp>
          <p:nvSpPr>
            <p:cNvPr id="110" name="Google Shape;110;p3"/>
            <p:cNvSpPr/>
            <p:nvPr/>
          </p:nvSpPr>
          <p:spPr>
            <a:xfrm>
              <a:off x="529575" y="1997600"/>
              <a:ext cx="135900" cy="187200"/>
            </a:xfrm>
            <a:prstGeom prst="chevron">
              <a:avLst>
                <a:gd fmla="val 50000" name="adj"/>
              </a:avLst>
            </a:prstGeom>
            <a:solidFill>
              <a:srgbClr val="38761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507100" y="2017025"/>
              <a:ext cx="135900" cy="146700"/>
            </a:xfrm>
            <a:prstGeom prst="chevron">
              <a:avLst>
                <a:gd fmla="val 50000" name="adj"/>
              </a:avLst>
            </a:prstGeom>
            <a:solidFill>
              <a:srgbClr val="38761D"/>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 name="Google Shape;112;p3"/>
          <p:cNvSpPr/>
          <p:nvPr>
            <p:ph idx="3" type="pic"/>
          </p:nvPr>
        </p:nvSpPr>
        <p:spPr>
          <a:xfrm>
            <a:off x="4054775" y="4659950"/>
            <a:ext cx="3035400" cy="2495700"/>
          </a:xfrm>
          <a:prstGeom prst="rect">
            <a:avLst/>
          </a:prstGeom>
          <a:noFill/>
          <a:ln cap="flat" cmpd="sng" w="19050">
            <a:solidFill>
              <a:srgbClr val="000000"/>
            </a:solidFill>
            <a:prstDash val="solid"/>
            <a:round/>
            <a:headEnd len="sm" w="sm" type="none"/>
            <a:tailEnd len="sm" w="sm" type="none"/>
          </a:ln>
        </p:spPr>
      </p:sp>
      <p:sp>
        <p:nvSpPr>
          <p:cNvPr id="113" name="Google Shape;113;p3"/>
          <p:cNvSpPr txBox="1"/>
          <p:nvPr/>
        </p:nvSpPr>
        <p:spPr>
          <a:xfrm>
            <a:off x="159875" y="60000"/>
            <a:ext cx="7458900" cy="5079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b="1" lang="en" sz="2100">
                <a:latin typeface="Google Sans"/>
                <a:ea typeface="Google Sans"/>
                <a:cs typeface="Google Sans"/>
                <a:sym typeface="Google Sans"/>
              </a:rPr>
              <a:t>Click here to edit title</a:t>
            </a:r>
            <a:endParaRPr b="1" sz="2100">
              <a:latin typeface="Google Sans"/>
              <a:ea typeface="Google Sans"/>
              <a:cs typeface="Google Sans"/>
              <a:sym typeface="Google Sans"/>
            </a:endParaRPr>
          </a:p>
        </p:txBody>
      </p:sp>
      <p:sp>
        <p:nvSpPr>
          <p:cNvPr id="114" name="Google Shape;114;p3"/>
          <p:cNvSpPr txBox="1"/>
          <p:nvPr/>
        </p:nvSpPr>
        <p:spPr>
          <a:xfrm>
            <a:off x="1763100" y="490850"/>
            <a:ext cx="4246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15" name="Google Shape;115;p3"/>
          <p:cNvSpPr txBox="1"/>
          <p:nvPr/>
        </p:nvSpPr>
        <p:spPr>
          <a:xfrm>
            <a:off x="3483688" y="4038750"/>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
        <p:nvSpPr>
          <p:cNvPr id="116" name="Google Shape;116;p3"/>
          <p:cNvSpPr txBox="1"/>
          <p:nvPr/>
        </p:nvSpPr>
        <p:spPr>
          <a:xfrm>
            <a:off x="3986375" y="7186500"/>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117" name="Shape 117"/>
        <p:cNvGrpSpPr/>
        <p:nvPr/>
      </p:nvGrpSpPr>
      <p:grpSpPr>
        <a:xfrm>
          <a:off x="0" y="0"/>
          <a:ext cx="0" cy="0"/>
          <a:chOff x="0" y="0"/>
          <a:chExt cx="0" cy="0"/>
        </a:xfrm>
      </p:grpSpPr>
      <p:cxnSp>
        <p:nvCxnSpPr>
          <p:cNvPr id="118" name="Google Shape;118;p4"/>
          <p:cNvCxnSpPr/>
          <p:nvPr/>
        </p:nvCxnSpPr>
        <p:spPr>
          <a:xfrm>
            <a:off x="417963" y="311025"/>
            <a:ext cx="28200" cy="8777100"/>
          </a:xfrm>
          <a:prstGeom prst="straightConnector1">
            <a:avLst/>
          </a:prstGeom>
          <a:noFill/>
          <a:ln cap="flat" cmpd="sng" w="9525">
            <a:solidFill>
              <a:srgbClr val="B7B7B7"/>
            </a:solidFill>
            <a:prstDash val="solid"/>
            <a:round/>
            <a:headEnd len="med" w="med" type="none"/>
            <a:tailEnd len="med" w="med" type="none"/>
          </a:ln>
        </p:spPr>
      </p:cxnSp>
      <p:grpSp>
        <p:nvGrpSpPr>
          <p:cNvPr id="119" name="Google Shape;119;p4"/>
          <p:cNvGrpSpPr/>
          <p:nvPr/>
        </p:nvGrpSpPr>
        <p:grpSpPr>
          <a:xfrm>
            <a:off x="404725" y="1300475"/>
            <a:ext cx="6908400" cy="72025"/>
            <a:chOff x="404725" y="1681475"/>
            <a:chExt cx="6908400" cy="72025"/>
          </a:xfrm>
        </p:grpSpPr>
        <p:cxnSp>
          <p:nvCxnSpPr>
            <p:cNvPr id="120" name="Google Shape;120;p4"/>
            <p:cNvCxnSpPr/>
            <p:nvPr/>
          </p:nvCxnSpPr>
          <p:spPr>
            <a:xfrm flipH="1" rot="10800000">
              <a:off x="404725" y="1681475"/>
              <a:ext cx="6908400" cy="16800"/>
            </a:xfrm>
            <a:prstGeom prst="straightConnector1">
              <a:avLst/>
            </a:prstGeom>
            <a:noFill/>
            <a:ln cap="flat" cmpd="sng" w="38100">
              <a:solidFill>
                <a:srgbClr val="666666"/>
              </a:solidFill>
              <a:prstDash val="solid"/>
              <a:round/>
              <a:headEnd len="med" w="med" type="none"/>
              <a:tailEnd len="med" w="med" type="none"/>
            </a:ln>
          </p:spPr>
        </p:cxnSp>
        <p:cxnSp>
          <p:nvCxnSpPr>
            <p:cNvPr id="121" name="Google Shape;121;p4"/>
            <p:cNvCxnSpPr/>
            <p:nvPr/>
          </p:nvCxnSpPr>
          <p:spPr>
            <a:xfrm flipH="1" rot="10800000">
              <a:off x="404725" y="1736700"/>
              <a:ext cx="6908400" cy="16800"/>
            </a:xfrm>
            <a:prstGeom prst="straightConnector1">
              <a:avLst/>
            </a:prstGeom>
            <a:noFill/>
            <a:ln cap="flat" cmpd="sng" w="38100">
              <a:solidFill>
                <a:srgbClr val="666666"/>
              </a:solidFill>
              <a:prstDash val="solid"/>
              <a:round/>
              <a:headEnd len="med" w="med" type="none"/>
              <a:tailEnd len="med" w="med" type="none"/>
            </a:ln>
          </p:spPr>
        </p:cxnSp>
      </p:grpSp>
      <p:cxnSp>
        <p:nvCxnSpPr>
          <p:cNvPr id="122" name="Google Shape;122;p4"/>
          <p:cNvCxnSpPr/>
          <p:nvPr/>
        </p:nvCxnSpPr>
        <p:spPr>
          <a:xfrm>
            <a:off x="7326238" y="6225"/>
            <a:ext cx="28200" cy="8777100"/>
          </a:xfrm>
          <a:prstGeom prst="straightConnector1">
            <a:avLst/>
          </a:prstGeom>
          <a:noFill/>
          <a:ln cap="flat" cmpd="sng" w="9525">
            <a:solidFill>
              <a:srgbClr val="B7B7B7"/>
            </a:solidFill>
            <a:prstDash val="solid"/>
            <a:round/>
            <a:headEnd len="med" w="med" type="none"/>
            <a:tailEnd len="med" w="med" type="none"/>
          </a:ln>
        </p:spPr>
      </p:cxnSp>
      <p:cxnSp>
        <p:nvCxnSpPr>
          <p:cNvPr id="123" name="Google Shape;123;p4"/>
          <p:cNvCxnSpPr/>
          <p:nvPr/>
        </p:nvCxnSpPr>
        <p:spPr>
          <a:xfrm rot="10800000">
            <a:off x="438150" y="3276600"/>
            <a:ext cx="6896100" cy="0"/>
          </a:xfrm>
          <a:prstGeom prst="straightConnector1">
            <a:avLst/>
          </a:prstGeom>
          <a:noFill/>
          <a:ln cap="flat" cmpd="sng" w="9525">
            <a:solidFill>
              <a:srgbClr val="CCCCCC"/>
            </a:solidFill>
            <a:prstDash val="solid"/>
            <a:round/>
            <a:headEnd len="med" w="med" type="none"/>
            <a:tailEnd len="med" w="med" type="none"/>
          </a:ln>
        </p:spPr>
      </p:cxnSp>
      <p:cxnSp>
        <p:nvCxnSpPr>
          <p:cNvPr id="124" name="Google Shape;124;p4"/>
          <p:cNvCxnSpPr/>
          <p:nvPr/>
        </p:nvCxnSpPr>
        <p:spPr>
          <a:xfrm>
            <a:off x="3861475" y="3505200"/>
            <a:ext cx="0" cy="5611800"/>
          </a:xfrm>
          <a:prstGeom prst="straightConnector1">
            <a:avLst/>
          </a:prstGeom>
          <a:noFill/>
          <a:ln cap="flat" cmpd="sng" w="9525">
            <a:solidFill>
              <a:srgbClr val="B7B7B7"/>
            </a:solidFill>
            <a:prstDash val="solid"/>
            <a:round/>
            <a:headEnd len="med" w="med" type="none"/>
            <a:tailEnd len="med" w="med" type="none"/>
          </a:ln>
        </p:spPr>
      </p:cxnSp>
      <p:grpSp>
        <p:nvGrpSpPr>
          <p:cNvPr id="125" name="Google Shape;125;p4"/>
          <p:cNvGrpSpPr/>
          <p:nvPr/>
        </p:nvGrpSpPr>
        <p:grpSpPr>
          <a:xfrm>
            <a:off x="417975" y="1504250"/>
            <a:ext cx="2357775" cy="410125"/>
            <a:chOff x="417975" y="1885250"/>
            <a:chExt cx="2357775" cy="410125"/>
          </a:xfrm>
        </p:grpSpPr>
        <p:sp>
          <p:nvSpPr>
            <p:cNvPr id="126" name="Google Shape;126;p4"/>
            <p:cNvSpPr/>
            <p:nvPr/>
          </p:nvSpPr>
          <p:spPr>
            <a:xfrm>
              <a:off x="417975" y="1885250"/>
              <a:ext cx="2020800" cy="410100"/>
            </a:xfrm>
            <a:prstGeom prst="rect">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rot="10800000">
              <a:off x="2236350" y="1885875"/>
              <a:ext cx="539400" cy="409500"/>
            </a:xfrm>
            <a:prstGeom prst="chevron">
              <a:avLst>
                <a:gd fmla="val 50000" name="adj"/>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 name="Google Shape;130;p4"/>
          <p:cNvGrpSpPr/>
          <p:nvPr/>
        </p:nvGrpSpPr>
        <p:grpSpPr>
          <a:xfrm>
            <a:off x="417975" y="3276600"/>
            <a:ext cx="2357775" cy="410125"/>
            <a:chOff x="265575" y="3352800"/>
            <a:chExt cx="2357775" cy="410125"/>
          </a:xfrm>
        </p:grpSpPr>
        <p:sp>
          <p:nvSpPr>
            <p:cNvPr id="131" name="Google Shape;131;p4"/>
            <p:cNvSpPr/>
            <p:nvPr/>
          </p:nvSpPr>
          <p:spPr>
            <a:xfrm>
              <a:off x="265575" y="3352800"/>
              <a:ext cx="2020800" cy="410100"/>
            </a:xfrm>
            <a:prstGeom prst="rect">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rot="10800000">
              <a:off x="2083950" y="3353425"/>
              <a:ext cx="539400" cy="409500"/>
            </a:xfrm>
            <a:prstGeom prst="chevron">
              <a:avLst>
                <a:gd fmla="val 50000" name="adj"/>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 name="Google Shape;135;p4"/>
          <p:cNvGrpSpPr/>
          <p:nvPr/>
        </p:nvGrpSpPr>
        <p:grpSpPr>
          <a:xfrm>
            <a:off x="3872044" y="3276600"/>
            <a:ext cx="2747987" cy="410125"/>
            <a:chOff x="3567313" y="3200400"/>
            <a:chExt cx="2357775" cy="410125"/>
          </a:xfrm>
        </p:grpSpPr>
        <p:sp>
          <p:nvSpPr>
            <p:cNvPr id="136" name="Google Shape;136;p4"/>
            <p:cNvSpPr/>
            <p:nvPr/>
          </p:nvSpPr>
          <p:spPr>
            <a:xfrm>
              <a:off x="3567313" y="3200400"/>
              <a:ext cx="2020800" cy="410100"/>
            </a:xfrm>
            <a:prstGeom prst="rect">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rot="10800000">
              <a:off x="5385688" y="3201025"/>
              <a:ext cx="539400" cy="409500"/>
            </a:xfrm>
            <a:prstGeom prst="chevron">
              <a:avLst>
                <a:gd fmla="val 50000" name="adj"/>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 name="Google Shape;140;p4"/>
          <p:cNvGrpSpPr/>
          <p:nvPr/>
        </p:nvGrpSpPr>
        <p:grpSpPr>
          <a:xfrm>
            <a:off x="417963" y="6597750"/>
            <a:ext cx="2357775" cy="410125"/>
            <a:chOff x="-39237" y="6140550"/>
            <a:chExt cx="2357775" cy="410125"/>
          </a:xfrm>
        </p:grpSpPr>
        <p:sp>
          <p:nvSpPr>
            <p:cNvPr id="141" name="Google Shape;141;p4"/>
            <p:cNvSpPr/>
            <p:nvPr/>
          </p:nvSpPr>
          <p:spPr>
            <a:xfrm>
              <a:off x="-39237" y="6140550"/>
              <a:ext cx="2020800" cy="410100"/>
            </a:xfrm>
            <a:prstGeom prst="rect">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rot="10800000">
              <a:off x="1779138" y="6141175"/>
              <a:ext cx="539400" cy="409500"/>
            </a:xfrm>
            <a:prstGeom prst="chevron">
              <a:avLst>
                <a:gd fmla="val 50000" name="adj"/>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 name="Google Shape;145;p4"/>
          <p:cNvSpPr txBox="1"/>
          <p:nvPr/>
        </p:nvSpPr>
        <p:spPr>
          <a:xfrm>
            <a:off x="402100" y="1527525"/>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6" name="Google Shape;146;p4"/>
          <p:cNvSpPr txBox="1"/>
          <p:nvPr/>
        </p:nvSpPr>
        <p:spPr>
          <a:xfrm>
            <a:off x="476200" y="3276599"/>
            <a:ext cx="179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7" name="Google Shape;147;p4"/>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8" name="Google Shape;148;p4"/>
          <p:cNvSpPr txBox="1"/>
          <p:nvPr/>
        </p:nvSpPr>
        <p:spPr>
          <a:xfrm>
            <a:off x="3848750" y="3276600"/>
            <a:ext cx="167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9" name="Google Shape;149;p4"/>
          <p:cNvSpPr txBox="1"/>
          <p:nvPr/>
        </p:nvSpPr>
        <p:spPr>
          <a:xfrm>
            <a:off x="413425" y="1939675"/>
            <a:ext cx="6896100" cy="1027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50" name="Google Shape;150;p4"/>
          <p:cNvSpPr txBox="1"/>
          <p:nvPr/>
        </p:nvSpPr>
        <p:spPr>
          <a:xfrm>
            <a:off x="438138" y="3915350"/>
            <a:ext cx="3108300" cy="2370000"/>
          </a:xfrm>
          <a:prstGeom prst="rect">
            <a:avLst/>
          </a:prstGeom>
          <a:noFill/>
          <a:ln>
            <a:noFill/>
          </a:ln>
        </p:spPr>
        <p:txBody>
          <a:bodyPr anchorCtr="0" anchor="t" bIns="91425" lIns="57150"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51" name="Google Shape;151;p4"/>
          <p:cNvSpPr txBox="1"/>
          <p:nvPr/>
        </p:nvSpPr>
        <p:spPr>
          <a:xfrm>
            <a:off x="438150" y="7050750"/>
            <a:ext cx="3108300" cy="2255400"/>
          </a:xfrm>
          <a:prstGeom prst="rect">
            <a:avLst/>
          </a:prstGeom>
          <a:noFill/>
          <a:ln>
            <a:noFill/>
          </a:ln>
        </p:spPr>
        <p:txBody>
          <a:bodyPr anchorCtr="0" anchor="t" bIns="91425" lIns="57150"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52" name="Google Shape;152;p4"/>
          <p:cNvSpPr txBox="1"/>
          <p:nvPr/>
        </p:nvSpPr>
        <p:spPr>
          <a:xfrm>
            <a:off x="3905525" y="4039263"/>
            <a:ext cx="3219000" cy="2604300"/>
          </a:xfrm>
          <a:prstGeom prst="rect">
            <a:avLst/>
          </a:prstGeom>
          <a:noFill/>
          <a:ln>
            <a:noFill/>
          </a:ln>
        </p:spPr>
        <p:txBody>
          <a:bodyPr anchorCtr="0" anchor="t" bIns="91425" lIns="57150"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53" name="Google Shape;153;p4"/>
          <p:cNvSpPr txBox="1"/>
          <p:nvPr/>
        </p:nvSpPr>
        <p:spPr>
          <a:xfrm>
            <a:off x="4183575" y="9228125"/>
            <a:ext cx="30867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15000"/>
              </a:lnSpc>
              <a:spcBef>
                <a:spcPts val="0"/>
              </a:spcBef>
              <a:spcAft>
                <a:spcPts val="1200"/>
              </a:spcAft>
              <a:buNone/>
            </a:pPr>
            <a:r>
              <a:t/>
            </a:r>
            <a:endParaRPr i="1" sz="1100">
              <a:solidFill>
                <a:srgbClr val="595959"/>
              </a:solidFill>
              <a:latin typeface="Google Sans"/>
              <a:ea typeface="Google Sans"/>
              <a:cs typeface="Google Sans"/>
              <a:sym typeface="Google Sans"/>
            </a:endParaRPr>
          </a:p>
        </p:txBody>
      </p:sp>
      <p:sp>
        <p:nvSpPr>
          <p:cNvPr id="154" name="Google Shape;154;p4"/>
          <p:cNvSpPr txBox="1"/>
          <p:nvPr/>
        </p:nvSpPr>
        <p:spPr>
          <a:xfrm>
            <a:off x="159875" y="441000"/>
            <a:ext cx="7458900" cy="5079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b="1" lang="en" sz="2100">
                <a:latin typeface="Google Sans"/>
                <a:ea typeface="Google Sans"/>
                <a:cs typeface="Google Sans"/>
                <a:sym typeface="Google Sans"/>
              </a:rPr>
              <a:t>Click here to edit title</a:t>
            </a:r>
            <a:endParaRPr b="1" sz="2100">
              <a:latin typeface="Google Sans"/>
              <a:ea typeface="Google Sans"/>
              <a:cs typeface="Google Sans"/>
              <a:sym typeface="Google Sans"/>
            </a:endParaRPr>
          </a:p>
        </p:txBody>
      </p:sp>
      <p:sp>
        <p:nvSpPr>
          <p:cNvPr id="155" name="Google Shape;155;p4"/>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6" name="Google Shape;156;p4"/>
          <p:cNvSpPr/>
          <p:nvPr>
            <p:ph idx="2" type="pic"/>
          </p:nvPr>
        </p:nvSpPr>
        <p:spPr>
          <a:xfrm>
            <a:off x="4076163" y="6199700"/>
            <a:ext cx="3035400" cy="2495700"/>
          </a:xfrm>
          <a:prstGeom prst="rect">
            <a:avLst/>
          </a:prstGeom>
          <a:noFill/>
          <a:ln cap="flat" cmpd="sng" w="19050">
            <a:solidFill>
              <a:srgbClr val="000000"/>
            </a:solidFill>
            <a:prstDash val="solid"/>
            <a:round/>
            <a:headEnd len="sm" w="sm" type="none"/>
            <a:tailEnd len="sm" w="sm" type="none"/>
          </a:ln>
        </p:spPr>
      </p:sp>
      <p:sp>
        <p:nvSpPr>
          <p:cNvPr id="157" name="Google Shape;157;p4"/>
          <p:cNvSpPr txBox="1"/>
          <p:nvPr/>
        </p:nvSpPr>
        <p:spPr>
          <a:xfrm>
            <a:off x="4007763" y="8695400"/>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158" name="Shape 158"/>
        <p:cNvGrpSpPr/>
        <p:nvPr/>
      </p:nvGrpSpPr>
      <p:grpSpPr>
        <a:xfrm>
          <a:off x="0" y="0"/>
          <a:ext cx="0" cy="0"/>
          <a:chOff x="0" y="0"/>
          <a:chExt cx="0" cy="0"/>
        </a:xfrm>
      </p:grpSpPr>
      <p:sp>
        <p:nvSpPr>
          <p:cNvPr id="159" name="Google Shape;159;p5"/>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Google Sans"/>
              <a:ea typeface="Google Sans"/>
              <a:cs typeface="Google Sans"/>
              <a:sym typeface="Google Sans"/>
            </a:endParaRPr>
          </a:p>
        </p:txBody>
      </p:sp>
      <p:sp>
        <p:nvSpPr>
          <p:cNvPr id="160" name="Google Shape;160;p5"/>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Google Sans"/>
              <a:ea typeface="Google Sans"/>
              <a:cs typeface="Google Sans"/>
              <a:sym typeface="Google Sans"/>
            </a:endParaRPr>
          </a:p>
        </p:txBody>
      </p:sp>
      <p:grpSp>
        <p:nvGrpSpPr>
          <p:cNvPr id="161" name="Google Shape;161;p5"/>
          <p:cNvGrpSpPr/>
          <p:nvPr/>
        </p:nvGrpSpPr>
        <p:grpSpPr>
          <a:xfrm>
            <a:off x="95351" y="1392509"/>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166" name="Google Shape;166;p5"/>
          <p:cNvGrpSpPr/>
          <p:nvPr/>
        </p:nvGrpSpPr>
        <p:grpSpPr>
          <a:xfrm>
            <a:off x="95351" y="4542984"/>
            <a:ext cx="7581691" cy="5901"/>
            <a:chOff x="1890075" y="5241175"/>
            <a:chExt cx="4240556" cy="257700"/>
          </a:xfrm>
        </p:grpSpPr>
        <p:sp>
          <p:nvSpPr>
            <p:cNvPr id="167" name="Google Shape;167;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8" name="Google Shape;168;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9" name="Google Shape;169;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70" name="Google Shape;170;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171" name="Google Shape;171;p5"/>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rgbClr val="EEEEEE">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72" name="Google Shape;172;p5"/>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73" name="Google Shape;173;p5"/>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74" name="Google Shape;174;p5"/>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5" name="Google Shape;175;p5"/>
          <p:cNvSpPr/>
          <p:nvPr/>
        </p:nvSpPr>
        <p:spPr>
          <a:xfrm>
            <a:off x="432000" y="82965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6" name="Google Shape;176;p5"/>
          <p:cNvGrpSpPr/>
          <p:nvPr/>
        </p:nvGrpSpPr>
        <p:grpSpPr>
          <a:xfrm>
            <a:off x="95351" y="8200359"/>
            <a:ext cx="7581691" cy="5901"/>
            <a:chOff x="1890075" y="5241175"/>
            <a:chExt cx="4240556" cy="257700"/>
          </a:xfrm>
        </p:grpSpPr>
        <p:sp>
          <p:nvSpPr>
            <p:cNvPr id="177" name="Google Shape;177;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78" name="Google Shape;178;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79" name="Google Shape;179;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80" name="Google Shape;180;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181" name="Google Shape;181;p5"/>
          <p:cNvSpPr txBox="1"/>
          <p:nvPr/>
        </p:nvSpPr>
        <p:spPr>
          <a:xfrm>
            <a:off x="159875" y="441000"/>
            <a:ext cx="7458900" cy="5079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b="1" lang="en" sz="2100">
                <a:latin typeface="Google Sans"/>
                <a:ea typeface="Google Sans"/>
                <a:cs typeface="Google Sans"/>
                <a:sym typeface="Google Sans"/>
              </a:rPr>
              <a:t>Click here to edit title</a:t>
            </a:r>
            <a:endParaRPr b="1" sz="2100">
              <a:latin typeface="Google Sans"/>
              <a:ea typeface="Google Sans"/>
              <a:cs typeface="Google Sans"/>
              <a:sym typeface="Google Sans"/>
            </a:endParaRPr>
          </a:p>
        </p:txBody>
      </p:sp>
      <p:sp>
        <p:nvSpPr>
          <p:cNvPr id="182" name="Google Shape;182;p5"/>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83" name="Google Shape;183;p5"/>
          <p:cNvSpPr/>
          <p:nvPr>
            <p:ph idx="2" type="pic"/>
          </p:nvPr>
        </p:nvSpPr>
        <p:spPr>
          <a:xfrm>
            <a:off x="4394725" y="4961200"/>
            <a:ext cx="3035400" cy="2495700"/>
          </a:xfrm>
          <a:prstGeom prst="rect">
            <a:avLst/>
          </a:prstGeom>
          <a:noFill/>
          <a:ln cap="flat" cmpd="sng" w="19050">
            <a:solidFill>
              <a:srgbClr val="000000"/>
            </a:solidFill>
            <a:prstDash val="solid"/>
            <a:round/>
            <a:headEnd len="sm" w="sm" type="none"/>
            <a:tailEnd len="sm" w="sm" type="none"/>
          </a:ln>
        </p:spPr>
      </p:sp>
      <p:sp>
        <p:nvSpPr>
          <p:cNvPr id="184" name="Google Shape;184;p5"/>
          <p:cNvSpPr txBox="1"/>
          <p:nvPr/>
        </p:nvSpPr>
        <p:spPr>
          <a:xfrm>
            <a:off x="4326325" y="7456900"/>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 NOT USE ">
  <p:cSld name="TITLE_2_1">
    <p:spTree>
      <p:nvGrpSpPr>
        <p:cNvPr id="185" name="Shape 185"/>
        <p:cNvGrpSpPr/>
        <p:nvPr/>
      </p:nvGrpSpPr>
      <p:grpSpPr>
        <a:xfrm>
          <a:off x="0" y="0"/>
          <a:ext cx="0" cy="0"/>
          <a:chOff x="0" y="0"/>
          <a:chExt cx="0" cy="0"/>
        </a:xfrm>
      </p:grpSpPr>
      <p:sp>
        <p:nvSpPr>
          <p:cNvPr id="186" name="Google Shape;186;p6"/>
          <p:cNvSpPr txBox="1"/>
          <p:nvPr/>
        </p:nvSpPr>
        <p:spPr>
          <a:xfrm>
            <a:off x="3993321" y="9367991"/>
            <a:ext cx="3693900" cy="734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87" name="Google Shape;187;p6"/>
          <p:cNvGrpSpPr/>
          <p:nvPr/>
        </p:nvGrpSpPr>
        <p:grpSpPr>
          <a:xfrm>
            <a:off x="-16250" y="9048087"/>
            <a:ext cx="7804900" cy="1072407"/>
            <a:chOff x="-19118" y="4617750"/>
            <a:chExt cx="9182236" cy="548378"/>
          </a:xfrm>
        </p:grpSpPr>
        <p:sp>
          <p:nvSpPr>
            <p:cNvPr id="188" name="Google Shape;188;p6"/>
            <p:cNvSpPr/>
            <p:nvPr/>
          </p:nvSpPr>
          <p:spPr>
            <a:xfrm flipH="1">
              <a:off x="19244" y="4617750"/>
              <a:ext cx="9143874" cy="548378"/>
            </a:xfrm>
            <a:custGeom>
              <a:rect b="b" l="l" r="r" t="t"/>
              <a:pathLst>
                <a:path extrusionOk="0" h="19840" w="367556">
                  <a:moveTo>
                    <a:pt x="0" y="19840"/>
                  </a:moveTo>
                  <a:lnTo>
                    <a:pt x="515" y="0"/>
                  </a:lnTo>
                  <a:lnTo>
                    <a:pt x="367556" y="11270"/>
                  </a:lnTo>
                  <a:lnTo>
                    <a:pt x="367044" y="18698"/>
                  </a:lnTo>
                  <a:close/>
                </a:path>
              </a:pathLst>
            </a:custGeom>
            <a:solidFill>
              <a:srgbClr val="4069DD"/>
            </a:solidFill>
            <a:ln>
              <a:noFill/>
            </a:ln>
          </p:spPr>
        </p:sp>
        <p:sp>
          <p:nvSpPr>
            <p:cNvPr id="189" name="Google Shape;189;p6"/>
            <p:cNvSpPr/>
            <p:nvPr/>
          </p:nvSpPr>
          <p:spPr>
            <a:xfrm flipH="1">
              <a:off x="-19118" y="4677825"/>
              <a:ext cx="4769786" cy="473975"/>
            </a:xfrm>
            <a:custGeom>
              <a:rect b="b" l="l" r="r" t="t"/>
              <a:pathLst>
                <a:path extrusionOk="0" h="18959" w="366343">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O NOT USE">
  <p:cSld name="CUSTOM_1">
    <p:spTree>
      <p:nvGrpSpPr>
        <p:cNvPr id="190" name="Shape 19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196" name="Shape 196"/>
        <p:cNvGrpSpPr/>
        <p:nvPr/>
      </p:nvGrpSpPr>
      <p:grpSpPr>
        <a:xfrm>
          <a:off x="0" y="0"/>
          <a:ext cx="0" cy="0"/>
          <a:chOff x="0" y="0"/>
          <a:chExt cx="0" cy="0"/>
        </a:xfrm>
      </p:grpSpPr>
      <p:grpSp>
        <p:nvGrpSpPr>
          <p:cNvPr id="197" name="Google Shape;197;p9"/>
          <p:cNvGrpSpPr/>
          <p:nvPr/>
        </p:nvGrpSpPr>
        <p:grpSpPr>
          <a:xfrm>
            <a:off x="172055" y="1468890"/>
            <a:ext cx="7434543" cy="62982"/>
            <a:chOff x="1890075" y="5241175"/>
            <a:chExt cx="4240556" cy="257700"/>
          </a:xfrm>
        </p:grpSpPr>
        <p:sp>
          <p:nvSpPr>
            <p:cNvPr id="198" name="Google Shape;198;p9"/>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99" name="Google Shape;199;p9"/>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0" name="Google Shape;200;p9"/>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1" name="Google Shape;201;p9"/>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202" name="Google Shape;202;p9"/>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nvGrpSpPr>
          <p:cNvPr id="203" name="Google Shape;203;p9"/>
          <p:cNvGrpSpPr/>
          <p:nvPr/>
        </p:nvGrpSpPr>
        <p:grpSpPr>
          <a:xfrm>
            <a:off x="168930" y="2702615"/>
            <a:ext cx="7434543" cy="62982"/>
            <a:chOff x="1890075" y="5241175"/>
            <a:chExt cx="4240556" cy="257700"/>
          </a:xfrm>
        </p:grpSpPr>
        <p:sp>
          <p:nvSpPr>
            <p:cNvPr id="204" name="Google Shape;204;p9"/>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5" name="Google Shape;205;p9"/>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6" name="Google Shape;206;p9"/>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7" name="Google Shape;207;p9"/>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cxnSp>
        <p:nvCxnSpPr>
          <p:cNvPr id="208" name="Google Shape;208;p9"/>
          <p:cNvCxnSpPr>
            <a:stCxn id="198"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209" name="Google Shape;209;p9"/>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210" name="Google Shape;210;p9"/>
          <p:cNvGrpSpPr/>
          <p:nvPr/>
        </p:nvGrpSpPr>
        <p:grpSpPr>
          <a:xfrm>
            <a:off x="0" y="3413775"/>
            <a:ext cx="3530025" cy="746350"/>
            <a:chOff x="0" y="3156075"/>
            <a:chExt cx="3530025" cy="746350"/>
          </a:xfrm>
        </p:grpSpPr>
        <p:sp>
          <p:nvSpPr>
            <p:cNvPr id="211" name="Google Shape;211;p9"/>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2" name="Google Shape;212;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13" name="Google Shape;213;p9"/>
          <p:cNvGrpSpPr/>
          <p:nvPr/>
        </p:nvGrpSpPr>
        <p:grpSpPr>
          <a:xfrm>
            <a:off x="3248850" y="2867100"/>
            <a:ext cx="4936034" cy="746350"/>
            <a:chOff x="0" y="3156075"/>
            <a:chExt cx="3530025" cy="746350"/>
          </a:xfrm>
        </p:grpSpPr>
        <p:sp>
          <p:nvSpPr>
            <p:cNvPr id="214" name="Google Shape;214;p9"/>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5" name="Google Shape;215;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16" name="Google Shape;216;p9"/>
          <p:cNvGrpSpPr/>
          <p:nvPr/>
        </p:nvGrpSpPr>
        <p:grpSpPr>
          <a:xfrm>
            <a:off x="3248850" y="7166275"/>
            <a:ext cx="4936034" cy="746350"/>
            <a:chOff x="0" y="3156075"/>
            <a:chExt cx="3530025" cy="746350"/>
          </a:xfrm>
        </p:grpSpPr>
        <p:sp>
          <p:nvSpPr>
            <p:cNvPr id="217" name="Google Shape;217;p9"/>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8" name="Google Shape;218;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219" name="Google Shape;219;p9"/>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220" name="Google Shape;220;p9"/>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221" name="Google Shape;221;p9"/>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222" name="Google Shape;222;p9"/>
          <p:cNvGrpSpPr/>
          <p:nvPr/>
        </p:nvGrpSpPr>
        <p:grpSpPr>
          <a:xfrm>
            <a:off x="172055" y="1468890"/>
            <a:ext cx="7434543" cy="62982"/>
            <a:chOff x="1890075" y="5241175"/>
            <a:chExt cx="4240556" cy="257700"/>
          </a:xfrm>
        </p:grpSpPr>
        <p:sp>
          <p:nvSpPr>
            <p:cNvPr id="223" name="Google Shape;223;p9"/>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24" name="Google Shape;224;p9"/>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25" name="Google Shape;225;p9"/>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26" name="Google Shape;226;p9"/>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227" name="Google Shape;227;p9"/>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nvGrpSpPr>
          <p:cNvPr id="228" name="Google Shape;228;p9"/>
          <p:cNvGrpSpPr/>
          <p:nvPr/>
        </p:nvGrpSpPr>
        <p:grpSpPr>
          <a:xfrm>
            <a:off x="168930" y="2702615"/>
            <a:ext cx="7434543" cy="62982"/>
            <a:chOff x="1890075" y="5241175"/>
            <a:chExt cx="4240556" cy="257700"/>
          </a:xfrm>
        </p:grpSpPr>
        <p:sp>
          <p:nvSpPr>
            <p:cNvPr id="229" name="Google Shape;229;p9"/>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0" name="Google Shape;230;p9"/>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1" name="Google Shape;231;p9"/>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2" name="Google Shape;232;p9"/>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cxnSp>
        <p:nvCxnSpPr>
          <p:cNvPr id="233" name="Google Shape;233;p9"/>
          <p:cNvCxnSpPr>
            <a:stCxn id="223"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234" name="Google Shape;234;p9"/>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235" name="Google Shape;235;p9"/>
          <p:cNvGrpSpPr/>
          <p:nvPr/>
        </p:nvGrpSpPr>
        <p:grpSpPr>
          <a:xfrm>
            <a:off x="0" y="3413775"/>
            <a:ext cx="3530025" cy="746350"/>
            <a:chOff x="0" y="3156075"/>
            <a:chExt cx="3530025" cy="746350"/>
          </a:xfrm>
        </p:grpSpPr>
        <p:sp>
          <p:nvSpPr>
            <p:cNvPr id="236" name="Google Shape;236;p9"/>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7" name="Google Shape;237;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238" name="Google Shape;238;p9"/>
          <p:cNvGrpSpPr/>
          <p:nvPr/>
        </p:nvGrpSpPr>
        <p:grpSpPr>
          <a:xfrm>
            <a:off x="3248850" y="2867100"/>
            <a:ext cx="4936034" cy="746350"/>
            <a:chOff x="0" y="3156075"/>
            <a:chExt cx="3530025" cy="746350"/>
          </a:xfrm>
        </p:grpSpPr>
        <p:sp>
          <p:nvSpPr>
            <p:cNvPr id="239" name="Google Shape;239;p9"/>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40" name="Google Shape;240;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241" name="Google Shape;241;p9"/>
          <p:cNvGrpSpPr/>
          <p:nvPr/>
        </p:nvGrpSpPr>
        <p:grpSpPr>
          <a:xfrm>
            <a:off x="3248850" y="7166275"/>
            <a:ext cx="4936034" cy="746350"/>
            <a:chOff x="0" y="3156075"/>
            <a:chExt cx="3530025" cy="746350"/>
          </a:xfrm>
        </p:grpSpPr>
        <p:sp>
          <p:nvSpPr>
            <p:cNvPr id="242" name="Google Shape;242;p9"/>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43" name="Google Shape;243;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244" name="Google Shape;244;p9"/>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245" name="Google Shape;245;p9"/>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246" name="Google Shape;246;p9"/>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247" name="Google Shape;247;p9"/>
          <p:cNvSpPr/>
          <p:nvPr>
            <p:ph idx="2" type="pic"/>
          </p:nvPr>
        </p:nvSpPr>
        <p:spPr>
          <a:xfrm>
            <a:off x="4583375" y="338940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248" name="Shape 248"/>
        <p:cNvGrpSpPr/>
        <p:nvPr/>
      </p:nvGrpSpPr>
      <p:grpSpPr>
        <a:xfrm>
          <a:off x="0" y="0"/>
          <a:ext cx="0" cy="0"/>
          <a:chOff x="0" y="0"/>
          <a:chExt cx="0" cy="0"/>
        </a:xfrm>
      </p:grpSpPr>
      <p:cxnSp>
        <p:nvCxnSpPr>
          <p:cNvPr id="249" name="Google Shape;249;p10"/>
          <p:cNvCxnSpPr>
            <a:stCxn id="250" idx="1"/>
          </p:cNvCxnSpPr>
          <p:nvPr/>
        </p:nvCxnSpPr>
        <p:spPr>
          <a:xfrm>
            <a:off x="3033472" y="937660"/>
            <a:ext cx="15900" cy="6568200"/>
          </a:xfrm>
          <a:prstGeom prst="straightConnector1">
            <a:avLst/>
          </a:prstGeom>
          <a:noFill/>
          <a:ln cap="flat" cmpd="sng" w="9525">
            <a:solidFill>
              <a:srgbClr val="CCCCCC"/>
            </a:solidFill>
            <a:prstDash val="solid"/>
            <a:round/>
            <a:headEnd len="med" w="med" type="none"/>
            <a:tailEnd len="med" w="med" type="none"/>
          </a:ln>
        </p:spPr>
      </p:cxnSp>
      <p:grpSp>
        <p:nvGrpSpPr>
          <p:cNvPr id="251" name="Google Shape;251;p10"/>
          <p:cNvGrpSpPr/>
          <p:nvPr/>
        </p:nvGrpSpPr>
        <p:grpSpPr>
          <a:xfrm>
            <a:off x="190320" y="900657"/>
            <a:ext cx="7581691" cy="5901"/>
            <a:chOff x="1890075" y="5241175"/>
            <a:chExt cx="4240556" cy="257700"/>
          </a:xfrm>
        </p:grpSpPr>
        <p:sp>
          <p:nvSpPr>
            <p:cNvPr id="252" name="Google Shape;252;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53" name="Google Shape;253;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54" name="Google Shape;254;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55" name="Google Shape;255;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56" name="Google Shape;256;p10"/>
          <p:cNvGrpSpPr/>
          <p:nvPr/>
        </p:nvGrpSpPr>
        <p:grpSpPr>
          <a:xfrm>
            <a:off x="190320" y="931759"/>
            <a:ext cx="7581691" cy="5901"/>
            <a:chOff x="1890075" y="5241175"/>
            <a:chExt cx="4240556" cy="257700"/>
          </a:xfrm>
        </p:grpSpPr>
        <p:sp>
          <p:nvSpPr>
            <p:cNvPr id="257" name="Google Shape;257;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58" name="Google Shape;258;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59" name="Google Shape;259;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60" name="Google Shape;260;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261" name="Google Shape;261;p10"/>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262" name="Google Shape;262;p10"/>
          <p:cNvSpPr/>
          <p:nvPr>
            <p:ph idx="2" type="pic"/>
          </p:nvPr>
        </p:nvSpPr>
        <p:spPr>
          <a:xfrm>
            <a:off x="3552088" y="1473363"/>
            <a:ext cx="3035400" cy="2495700"/>
          </a:xfrm>
          <a:prstGeom prst="rect">
            <a:avLst/>
          </a:prstGeom>
          <a:noFill/>
          <a:ln cap="flat" cmpd="sng" w="19050">
            <a:solidFill>
              <a:srgbClr val="000000"/>
            </a:solidFill>
            <a:prstDash val="solid"/>
            <a:round/>
            <a:headEnd len="sm" w="sm" type="none"/>
            <a:tailEnd len="sm" w="sm" type="none"/>
          </a:ln>
        </p:spPr>
      </p:sp>
      <p:sp>
        <p:nvSpPr>
          <p:cNvPr id="263" name="Google Shape;263;p10"/>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264" name="Google Shape;264;p10"/>
          <p:cNvSpPr/>
          <p:nvPr/>
        </p:nvSpPr>
        <p:spPr>
          <a:xfrm>
            <a:off x="159875" y="7502350"/>
            <a:ext cx="7612200" cy="2379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5" name="Google Shape;265;p10"/>
          <p:cNvGrpSpPr/>
          <p:nvPr/>
        </p:nvGrpSpPr>
        <p:grpSpPr>
          <a:xfrm>
            <a:off x="190320" y="900657"/>
            <a:ext cx="7581691" cy="5901"/>
            <a:chOff x="1890075" y="5241175"/>
            <a:chExt cx="4240556" cy="257700"/>
          </a:xfrm>
        </p:grpSpPr>
        <p:sp>
          <p:nvSpPr>
            <p:cNvPr id="266" name="Google Shape;266;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67" name="Google Shape;267;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68" name="Google Shape;268;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69" name="Google Shape;269;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270" name="Google Shape;270;p10"/>
          <p:cNvGrpSpPr/>
          <p:nvPr/>
        </p:nvGrpSpPr>
        <p:grpSpPr>
          <a:xfrm>
            <a:off x="190320" y="931759"/>
            <a:ext cx="7581691" cy="5901"/>
            <a:chOff x="1890075" y="5241175"/>
            <a:chExt cx="4240556" cy="257700"/>
          </a:xfrm>
        </p:grpSpPr>
        <p:sp>
          <p:nvSpPr>
            <p:cNvPr id="271" name="Google Shape;271;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50" name="Google Shape;250;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72" name="Google Shape;272;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73" name="Google Shape;273;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274" name="Google Shape;274;p10"/>
          <p:cNvSpPr/>
          <p:nvPr/>
        </p:nvSpPr>
        <p:spPr>
          <a:xfrm rot="248910">
            <a:off x="7469568" y="-16320"/>
            <a:ext cx="1791494" cy="10540289"/>
          </a:xfrm>
          <a:prstGeom prst="rtTriangle">
            <a:avLst/>
          </a:prstGeom>
          <a:solidFill>
            <a:srgbClr val="5757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275" name="Google Shape;275;p10"/>
          <p:cNvSpPr txBox="1"/>
          <p:nvPr/>
        </p:nvSpPr>
        <p:spPr>
          <a:xfrm>
            <a:off x="290394" y="9345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276" name="Google Shape;276;p10"/>
          <p:cNvGrpSpPr/>
          <p:nvPr/>
        </p:nvGrpSpPr>
        <p:grpSpPr>
          <a:xfrm>
            <a:off x="172024" y="1040825"/>
            <a:ext cx="137818" cy="187200"/>
            <a:chOff x="507100" y="1997600"/>
            <a:chExt cx="158375" cy="187200"/>
          </a:xfrm>
        </p:grpSpPr>
        <p:sp>
          <p:nvSpPr>
            <p:cNvPr id="277" name="Google Shape;277;p10"/>
            <p:cNvSpPr/>
            <p:nvPr/>
          </p:nvSpPr>
          <p:spPr>
            <a:xfrm>
              <a:off x="529575" y="1997600"/>
              <a:ext cx="135900" cy="187200"/>
            </a:xfrm>
            <a:prstGeom prst="chevron">
              <a:avLst>
                <a:gd fmla="val 50000" name="adj"/>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p:nvPr/>
          </p:nvSpPr>
          <p:spPr>
            <a:xfrm>
              <a:off x="507100" y="2017025"/>
              <a:ext cx="135900" cy="146700"/>
            </a:xfrm>
            <a:prstGeom prst="chevron">
              <a:avLst>
                <a:gd fmla="val 50000" name="adj"/>
              </a:avLst>
            </a:prstGeom>
            <a:solidFill>
              <a:srgbClr val="4069DD"/>
            </a:solidFill>
            <a:ln cap="flat" cmpd="sng" w="9525">
              <a:solidFill>
                <a:srgbClr val="406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9" name="Google Shape;279;p10"/>
          <p:cNvSpPr txBox="1"/>
          <p:nvPr/>
        </p:nvSpPr>
        <p:spPr>
          <a:xfrm>
            <a:off x="308719" y="28014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280" name="Google Shape;280;p10"/>
          <p:cNvGrpSpPr/>
          <p:nvPr/>
        </p:nvGrpSpPr>
        <p:grpSpPr>
          <a:xfrm>
            <a:off x="190349" y="2907725"/>
            <a:ext cx="137818" cy="187200"/>
            <a:chOff x="507100" y="1540400"/>
            <a:chExt cx="158375" cy="187200"/>
          </a:xfrm>
        </p:grpSpPr>
        <p:sp>
          <p:nvSpPr>
            <p:cNvPr id="281" name="Google Shape;281;p10"/>
            <p:cNvSpPr/>
            <p:nvPr/>
          </p:nvSpPr>
          <p:spPr>
            <a:xfrm>
              <a:off x="529575" y="1540400"/>
              <a:ext cx="135900" cy="187200"/>
            </a:xfrm>
            <a:prstGeom prst="chevron">
              <a:avLst>
                <a:gd fmla="val 50000"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p:nvPr/>
          </p:nvSpPr>
          <p:spPr>
            <a:xfrm>
              <a:off x="507100" y="1559825"/>
              <a:ext cx="135900" cy="146700"/>
            </a:xfrm>
            <a:prstGeom prst="chevron">
              <a:avLst>
                <a:gd fmla="val 50000" name="adj"/>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3" name="Google Shape;283;p10"/>
          <p:cNvSpPr txBox="1"/>
          <p:nvPr/>
        </p:nvSpPr>
        <p:spPr>
          <a:xfrm>
            <a:off x="290394" y="5399875"/>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284" name="Google Shape;284;p10"/>
          <p:cNvGrpSpPr/>
          <p:nvPr/>
        </p:nvGrpSpPr>
        <p:grpSpPr>
          <a:xfrm>
            <a:off x="172024" y="5506200"/>
            <a:ext cx="137818" cy="187200"/>
            <a:chOff x="507100" y="1997600"/>
            <a:chExt cx="158375" cy="187200"/>
          </a:xfrm>
        </p:grpSpPr>
        <p:sp>
          <p:nvSpPr>
            <p:cNvPr id="285" name="Google Shape;285;p10"/>
            <p:cNvSpPr/>
            <p:nvPr/>
          </p:nvSpPr>
          <p:spPr>
            <a:xfrm>
              <a:off x="529575" y="1997600"/>
              <a:ext cx="135900" cy="187200"/>
            </a:xfrm>
            <a:prstGeom prst="chevron">
              <a:avLst>
                <a:gd fmla="val 50000" name="adj"/>
              </a:avLst>
            </a:prstGeom>
            <a:solidFill>
              <a:srgbClr val="F4B4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0"/>
            <p:cNvSpPr/>
            <p:nvPr/>
          </p:nvSpPr>
          <p:spPr>
            <a:xfrm>
              <a:off x="507100" y="2017025"/>
              <a:ext cx="135900" cy="146700"/>
            </a:xfrm>
            <a:prstGeom prst="chevron">
              <a:avLst>
                <a:gd fmla="val 50000" name="adj"/>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7" name="Google Shape;287;p10"/>
          <p:cNvSpPr txBox="1"/>
          <p:nvPr/>
        </p:nvSpPr>
        <p:spPr>
          <a:xfrm>
            <a:off x="-2480800" y="91265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288" name="Google Shape;288;p10"/>
          <p:cNvSpPr txBox="1"/>
          <p:nvPr/>
        </p:nvSpPr>
        <p:spPr>
          <a:xfrm>
            <a:off x="315596" y="7502355"/>
            <a:ext cx="6273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289" name="Google Shape;289;p10"/>
          <p:cNvGrpSpPr/>
          <p:nvPr/>
        </p:nvGrpSpPr>
        <p:grpSpPr>
          <a:xfrm>
            <a:off x="172024" y="7607808"/>
            <a:ext cx="137818" cy="187200"/>
            <a:chOff x="507100" y="1997600"/>
            <a:chExt cx="158375" cy="187200"/>
          </a:xfrm>
        </p:grpSpPr>
        <p:sp>
          <p:nvSpPr>
            <p:cNvPr id="290" name="Google Shape;290;p10"/>
            <p:cNvSpPr/>
            <p:nvPr/>
          </p:nvSpPr>
          <p:spPr>
            <a:xfrm>
              <a:off x="529575" y="1997600"/>
              <a:ext cx="135900" cy="187200"/>
            </a:xfrm>
            <a:prstGeom prst="chevron">
              <a:avLst>
                <a:gd fmla="val 50000" name="adj"/>
              </a:avLst>
            </a:prstGeom>
            <a:solidFill>
              <a:srgbClr val="0F9D5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0"/>
            <p:cNvSpPr/>
            <p:nvPr/>
          </p:nvSpPr>
          <p:spPr>
            <a:xfrm>
              <a:off x="507100" y="2017025"/>
              <a:ext cx="135900" cy="146700"/>
            </a:xfrm>
            <a:prstGeom prst="chevron">
              <a:avLst>
                <a:gd fmla="val 50000" name="adj"/>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2" name="Google Shape;292;p10"/>
          <p:cNvSpPr/>
          <p:nvPr>
            <p:ph idx="3" type="pic"/>
          </p:nvPr>
        </p:nvSpPr>
        <p:spPr>
          <a:xfrm>
            <a:off x="4054775" y="465995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293" name="Shape 293"/>
        <p:cNvGrpSpPr/>
        <p:nvPr/>
      </p:nvGrpSpPr>
      <p:grpSpPr>
        <a:xfrm>
          <a:off x="0" y="0"/>
          <a:ext cx="0" cy="0"/>
          <a:chOff x="0" y="0"/>
          <a:chExt cx="0" cy="0"/>
        </a:xfrm>
      </p:grpSpPr>
      <p:cxnSp>
        <p:nvCxnSpPr>
          <p:cNvPr id="294" name="Google Shape;294;p11"/>
          <p:cNvCxnSpPr/>
          <p:nvPr/>
        </p:nvCxnSpPr>
        <p:spPr>
          <a:xfrm>
            <a:off x="400175" y="1369975"/>
            <a:ext cx="0" cy="8693100"/>
          </a:xfrm>
          <a:prstGeom prst="straightConnector1">
            <a:avLst/>
          </a:prstGeom>
          <a:noFill/>
          <a:ln cap="flat" cmpd="sng" w="9525">
            <a:solidFill>
              <a:srgbClr val="B7B7B7"/>
            </a:solidFill>
            <a:prstDash val="solid"/>
            <a:round/>
            <a:headEnd len="med" w="med" type="none"/>
            <a:tailEnd len="med" w="med" type="none"/>
          </a:ln>
        </p:spPr>
      </p:cxnSp>
      <p:grpSp>
        <p:nvGrpSpPr>
          <p:cNvPr id="295" name="Google Shape;295;p11"/>
          <p:cNvGrpSpPr/>
          <p:nvPr/>
        </p:nvGrpSpPr>
        <p:grpSpPr>
          <a:xfrm>
            <a:off x="404725" y="1300475"/>
            <a:ext cx="6908400" cy="72025"/>
            <a:chOff x="404725" y="1681475"/>
            <a:chExt cx="6908400" cy="72025"/>
          </a:xfrm>
        </p:grpSpPr>
        <p:cxnSp>
          <p:nvCxnSpPr>
            <p:cNvPr id="296" name="Google Shape;296;p11"/>
            <p:cNvCxnSpPr/>
            <p:nvPr/>
          </p:nvCxnSpPr>
          <p:spPr>
            <a:xfrm flipH="1" rot="10800000">
              <a:off x="404725" y="1681475"/>
              <a:ext cx="6908400" cy="16800"/>
            </a:xfrm>
            <a:prstGeom prst="straightConnector1">
              <a:avLst/>
            </a:prstGeom>
            <a:noFill/>
            <a:ln cap="flat" cmpd="sng" w="38100">
              <a:solidFill>
                <a:srgbClr val="666666"/>
              </a:solidFill>
              <a:prstDash val="solid"/>
              <a:round/>
              <a:headEnd len="med" w="med" type="none"/>
              <a:tailEnd len="med" w="med" type="none"/>
            </a:ln>
          </p:spPr>
        </p:cxnSp>
        <p:cxnSp>
          <p:nvCxnSpPr>
            <p:cNvPr id="297" name="Google Shape;297;p11"/>
            <p:cNvCxnSpPr/>
            <p:nvPr/>
          </p:nvCxnSpPr>
          <p:spPr>
            <a:xfrm flipH="1" rot="10800000">
              <a:off x="404725" y="1736700"/>
              <a:ext cx="6908400" cy="16800"/>
            </a:xfrm>
            <a:prstGeom prst="straightConnector1">
              <a:avLst/>
            </a:prstGeom>
            <a:noFill/>
            <a:ln cap="flat" cmpd="sng" w="38100">
              <a:solidFill>
                <a:srgbClr val="666666"/>
              </a:solidFill>
              <a:prstDash val="solid"/>
              <a:round/>
              <a:headEnd len="med" w="med" type="none"/>
              <a:tailEnd len="med" w="med" type="none"/>
            </a:ln>
          </p:spPr>
        </p:cxnSp>
      </p:grpSp>
      <p:cxnSp>
        <p:nvCxnSpPr>
          <p:cNvPr id="298" name="Google Shape;298;p11"/>
          <p:cNvCxnSpPr/>
          <p:nvPr/>
        </p:nvCxnSpPr>
        <p:spPr>
          <a:xfrm>
            <a:off x="7324850" y="1360450"/>
            <a:ext cx="0" cy="8731200"/>
          </a:xfrm>
          <a:prstGeom prst="straightConnector1">
            <a:avLst/>
          </a:prstGeom>
          <a:noFill/>
          <a:ln cap="flat" cmpd="sng" w="9525">
            <a:solidFill>
              <a:srgbClr val="B7B7B7"/>
            </a:solidFill>
            <a:prstDash val="solid"/>
            <a:round/>
            <a:headEnd len="med" w="med" type="none"/>
            <a:tailEnd len="med" w="med" type="none"/>
          </a:ln>
        </p:spPr>
      </p:cxnSp>
      <p:cxnSp>
        <p:nvCxnSpPr>
          <p:cNvPr id="299" name="Google Shape;299;p11"/>
          <p:cNvCxnSpPr/>
          <p:nvPr/>
        </p:nvCxnSpPr>
        <p:spPr>
          <a:xfrm rot="10800000">
            <a:off x="438150" y="3276600"/>
            <a:ext cx="6896100" cy="0"/>
          </a:xfrm>
          <a:prstGeom prst="straightConnector1">
            <a:avLst/>
          </a:prstGeom>
          <a:noFill/>
          <a:ln cap="flat" cmpd="sng" w="9525">
            <a:solidFill>
              <a:srgbClr val="CCCCCC"/>
            </a:solidFill>
            <a:prstDash val="solid"/>
            <a:round/>
            <a:headEnd len="med" w="med" type="none"/>
            <a:tailEnd len="med" w="med" type="none"/>
          </a:ln>
        </p:spPr>
      </p:cxnSp>
      <p:cxnSp>
        <p:nvCxnSpPr>
          <p:cNvPr id="300" name="Google Shape;300;p11"/>
          <p:cNvCxnSpPr/>
          <p:nvPr/>
        </p:nvCxnSpPr>
        <p:spPr>
          <a:xfrm>
            <a:off x="3861475" y="3505200"/>
            <a:ext cx="0" cy="6576900"/>
          </a:xfrm>
          <a:prstGeom prst="straightConnector1">
            <a:avLst/>
          </a:prstGeom>
          <a:noFill/>
          <a:ln cap="flat" cmpd="sng" w="9525">
            <a:solidFill>
              <a:srgbClr val="B7B7B7"/>
            </a:solidFill>
            <a:prstDash val="solid"/>
            <a:round/>
            <a:headEnd len="med" w="med" type="none"/>
            <a:tailEnd len="med" w="med" type="none"/>
          </a:ln>
        </p:spPr>
      </p:cxnSp>
      <p:grpSp>
        <p:nvGrpSpPr>
          <p:cNvPr id="301" name="Google Shape;301;p11"/>
          <p:cNvGrpSpPr/>
          <p:nvPr/>
        </p:nvGrpSpPr>
        <p:grpSpPr>
          <a:xfrm>
            <a:off x="417975" y="1504250"/>
            <a:ext cx="2357775" cy="410125"/>
            <a:chOff x="417975" y="1885250"/>
            <a:chExt cx="2357775" cy="410125"/>
          </a:xfrm>
        </p:grpSpPr>
        <p:sp>
          <p:nvSpPr>
            <p:cNvPr id="302" name="Google Shape;302;p11"/>
            <p:cNvSpPr/>
            <p:nvPr/>
          </p:nvSpPr>
          <p:spPr>
            <a:xfrm>
              <a:off x="417975" y="1885250"/>
              <a:ext cx="2020800" cy="410100"/>
            </a:xfrm>
            <a:prstGeom prst="rect">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rot="10800000">
              <a:off x="2236350" y="1885875"/>
              <a:ext cx="539400" cy="409500"/>
            </a:xfrm>
            <a:prstGeom prst="chevron">
              <a:avLst>
                <a:gd fmla="val 50000" name="adj"/>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6" name="Google Shape;306;p11"/>
          <p:cNvGrpSpPr/>
          <p:nvPr/>
        </p:nvGrpSpPr>
        <p:grpSpPr>
          <a:xfrm>
            <a:off x="417975" y="3276600"/>
            <a:ext cx="2357775" cy="410125"/>
            <a:chOff x="265575" y="3352800"/>
            <a:chExt cx="2357775" cy="410125"/>
          </a:xfrm>
        </p:grpSpPr>
        <p:sp>
          <p:nvSpPr>
            <p:cNvPr id="307" name="Google Shape;307;p11"/>
            <p:cNvSpPr/>
            <p:nvPr/>
          </p:nvSpPr>
          <p:spPr>
            <a:xfrm>
              <a:off x="265575" y="3352800"/>
              <a:ext cx="2020800" cy="410100"/>
            </a:xfrm>
            <a:prstGeom prst="rect">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rot="10800000">
              <a:off x="2083950" y="3353425"/>
              <a:ext cx="539400" cy="409500"/>
            </a:xfrm>
            <a:prstGeom prst="chevron">
              <a:avLst>
                <a:gd fmla="val 50000" name="adj"/>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1" name="Google Shape;311;p11"/>
          <p:cNvGrpSpPr/>
          <p:nvPr/>
        </p:nvGrpSpPr>
        <p:grpSpPr>
          <a:xfrm>
            <a:off x="3872044" y="3276600"/>
            <a:ext cx="2747987" cy="410125"/>
            <a:chOff x="3567313" y="3200400"/>
            <a:chExt cx="2357775" cy="410125"/>
          </a:xfrm>
        </p:grpSpPr>
        <p:sp>
          <p:nvSpPr>
            <p:cNvPr id="312" name="Google Shape;312;p11"/>
            <p:cNvSpPr/>
            <p:nvPr/>
          </p:nvSpPr>
          <p:spPr>
            <a:xfrm>
              <a:off x="3567313" y="3200400"/>
              <a:ext cx="2020800" cy="410100"/>
            </a:xfrm>
            <a:prstGeom prst="rect">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rot="10800000">
              <a:off x="5385688" y="3201025"/>
              <a:ext cx="539400" cy="409500"/>
            </a:xfrm>
            <a:prstGeom prst="chevron">
              <a:avLst>
                <a:gd fmla="val 50000" name="adj"/>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 name="Google Shape;316;p11"/>
          <p:cNvGrpSpPr/>
          <p:nvPr/>
        </p:nvGrpSpPr>
        <p:grpSpPr>
          <a:xfrm>
            <a:off x="417963" y="6597750"/>
            <a:ext cx="2357775" cy="410125"/>
            <a:chOff x="-39237" y="6140550"/>
            <a:chExt cx="2357775" cy="410125"/>
          </a:xfrm>
        </p:grpSpPr>
        <p:sp>
          <p:nvSpPr>
            <p:cNvPr id="317" name="Google Shape;317;p11"/>
            <p:cNvSpPr/>
            <p:nvPr/>
          </p:nvSpPr>
          <p:spPr>
            <a:xfrm>
              <a:off x="-39237" y="6140550"/>
              <a:ext cx="2020800" cy="410100"/>
            </a:xfrm>
            <a:prstGeom prst="rect">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rot="10800000">
              <a:off x="1779138" y="6141175"/>
              <a:ext cx="539400" cy="409500"/>
            </a:xfrm>
            <a:prstGeom prst="chevron">
              <a:avLst>
                <a:gd fmla="val 50000" name="adj"/>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1"/>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1" name="Google Shape;321;p11"/>
          <p:cNvSpPr txBox="1"/>
          <p:nvPr/>
        </p:nvSpPr>
        <p:spPr>
          <a:xfrm>
            <a:off x="402100" y="1527525"/>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322" name="Google Shape;322;p11"/>
          <p:cNvSpPr txBox="1"/>
          <p:nvPr/>
        </p:nvSpPr>
        <p:spPr>
          <a:xfrm>
            <a:off x="476200" y="3276599"/>
            <a:ext cx="179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323" name="Google Shape;323;p11"/>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324" name="Google Shape;324;p11"/>
          <p:cNvSpPr txBox="1"/>
          <p:nvPr/>
        </p:nvSpPr>
        <p:spPr>
          <a:xfrm>
            <a:off x="3848750" y="3276600"/>
            <a:ext cx="167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325" name="Google Shape;325;p11"/>
          <p:cNvSpPr txBox="1"/>
          <p:nvPr/>
        </p:nvSpPr>
        <p:spPr>
          <a:xfrm>
            <a:off x="3905525" y="4039263"/>
            <a:ext cx="3219000" cy="2604300"/>
          </a:xfrm>
          <a:prstGeom prst="rect">
            <a:avLst/>
          </a:prstGeom>
          <a:noFill/>
          <a:ln>
            <a:noFill/>
          </a:ln>
        </p:spPr>
        <p:txBody>
          <a:bodyPr anchorCtr="0" anchor="t" bIns="91425" lIns="57150"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326" name="Google Shape;326;p11"/>
          <p:cNvSpPr txBox="1"/>
          <p:nvPr/>
        </p:nvSpPr>
        <p:spPr>
          <a:xfrm>
            <a:off x="4183575" y="9228125"/>
            <a:ext cx="30867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15000"/>
              </a:lnSpc>
              <a:spcBef>
                <a:spcPts val="0"/>
              </a:spcBef>
              <a:spcAft>
                <a:spcPts val="1200"/>
              </a:spcAft>
              <a:buNone/>
            </a:pPr>
            <a:r>
              <a:t/>
            </a:r>
            <a:endParaRPr i="1" sz="1100">
              <a:solidFill>
                <a:srgbClr val="595959"/>
              </a:solidFill>
              <a:latin typeface="Google Sans"/>
              <a:ea typeface="Google Sans"/>
              <a:cs typeface="Google Sans"/>
              <a:sym typeface="Google Sans"/>
            </a:endParaRPr>
          </a:p>
        </p:txBody>
      </p:sp>
      <p:sp>
        <p:nvSpPr>
          <p:cNvPr id="327" name="Google Shape;327;p11"/>
          <p:cNvSpPr/>
          <p:nvPr>
            <p:ph idx="2" type="pic"/>
          </p:nvPr>
        </p:nvSpPr>
        <p:spPr>
          <a:xfrm>
            <a:off x="4076163" y="619970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328" name="Shape 328"/>
        <p:cNvGrpSpPr/>
        <p:nvPr/>
      </p:nvGrpSpPr>
      <p:grpSpPr>
        <a:xfrm>
          <a:off x="0" y="0"/>
          <a:ext cx="0" cy="0"/>
          <a:chOff x="0" y="0"/>
          <a:chExt cx="0" cy="0"/>
        </a:xfrm>
      </p:grpSpPr>
      <p:sp>
        <p:nvSpPr>
          <p:cNvPr id="329" name="Google Shape;329;p12"/>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Google Sans"/>
              <a:ea typeface="Google Sans"/>
              <a:cs typeface="Google Sans"/>
              <a:sym typeface="Google Sans"/>
            </a:endParaRPr>
          </a:p>
        </p:txBody>
      </p:sp>
      <p:sp>
        <p:nvSpPr>
          <p:cNvPr id="330" name="Google Shape;330;p12"/>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Google Sans"/>
              <a:ea typeface="Google Sans"/>
              <a:cs typeface="Google Sans"/>
              <a:sym typeface="Google Sans"/>
            </a:endParaRPr>
          </a:p>
        </p:txBody>
      </p:sp>
      <p:grpSp>
        <p:nvGrpSpPr>
          <p:cNvPr id="331" name="Google Shape;331;p12"/>
          <p:cNvGrpSpPr/>
          <p:nvPr/>
        </p:nvGrpSpPr>
        <p:grpSpPr>
          <a:xfrm>
            <a:off x="95351" y="1392509"/>
            <a:ext cx="7581691" cy="5901"/>
            <a:chOff x="1890075" y="5241175"/>
            <a:chExt cx="4240556" cy="257700"/>
          </a:xfrm>
        </p:grpSpPr>
        <p:sp>
          <p:nvSpPr>
            <p:cNvPr id="332" name="Google Shape;332;p1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33" name="Google Shape;333;p1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34" name="Google Shape;334;p1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35" name="Google Shape;335;p1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336" name="Google Shape;336;p12"/>
          <p:cNvGrpSpPr/>
          <p:nvPr/>
        </p:nvGrpSpPr>
        <p:grpSpPr>
          <a:xfrm>
            <a:off x="95351" y="4542984"/>
            <a:ext cx="7581691" cy="5901"/>
            <a:chOff x="1890075" y="5241175"/>
            <a:chExt cx="4240556" cy="257700"/>
          </a:xfrm>
        </p:grpSpPr>
        <p:sp>
          <p:nvSpPr>
            <p:cNvPr id="337" name="Google Shape;337;p1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38" name="Google Shape;338;p1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39" name="Google Shape;339;p1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40" name="Google Shape;340;p1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341" name="Google Shape;341;p12"/>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rgbClr val="EEEEEE">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342" name="Google Shape;342;p12"/>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343" name="Google Shape;343;p12"/>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344" name="Google Shape;344;p12"/>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345" name="Google Shape;345;p12"/>
          <p:cNvSpPr/>
          <p:nvPr/>
        </p:nvSpPr>
        <p:spPr>
          <a:xfrm>
            <a:off x="432000" y="82965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346" name="Google Shape;346;p12"/>
          <p:cNvGrpSpPr/>
          <p:nvPr/>
        </p:nvGrpSpPr>
        <p:grpSpPr>
          <a:xfrm>
            <a:off x="95351" y="8200359"/>
            <a:ext cx="7581691" cy="5901"/>
            <a:chOff x="1890075" y="5241175"/>
            <a:chExt cx="4240556" cy="257700"/>
          </a:xfrm>
        </p:grpSpPr>
        <p:sp>
          <p:nvSpPr>
            <p:cNvPr id="347" name="Google Shape;347;p1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48" name="Google Shape;348;p1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49" name="Google Shape;349;p1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50" name="Google Shape;350;p1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351" name="Google Shape;351;p12"/>
          <p:cNvSpPr/>
          <p:nvPr>
            <p:ph idx="2" type="pic"/>
          </p:nvPr>
        </p:nvSpPr>
        <p:spPr>
          <a:xfrm>
            <a:off x="4394725" y="496120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cSld name="CUSTOM_1">
    <p:spTree>
      <p:nvGrpSpPr>
        <p:cNvPr id="352" name="Shape 35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5">
  <p:cSld name="CUSTOM_2">
    <p:spTree>
      <p:nvGrpSpPr>
        <p:cNvPr id="353" name="Shape 353"/>
        <p:cNvGrpSpPr/>
        <p:nvPr/>
      </p:nvGrpSpPr>
      <p:grpSpPr>
        <a:xfrm>
          <a:off x="0" y="0"/>
          <a:ext cx="0" cy="0"/>
          <a:chOff x="0" y="0"/>
          <a:chExt cx="0" cy="0"/>
        </a:xfrm>
      </p:grpSpPr>
      <p:cxnSp>
        <p:nvCxnSpPr>
          <p:cNvPr id="354" name="Google Shape;354;p14"/>
          <p:cNvCxnSpPr/>
          <p:nvPr/>
        </p:nvCxnSpPr>
        <p:spPr>
          <a:xfrm>
            <a:off x="3049395" y="1359111"/>
            <a:ext cx="0" cy="5924400"/>
          </a:xfrm>
          <a:prstGeom prst="straightConnector1">
            <a:avLst/>
          </a:prstGeom>
          <a:noFill/>
          <a:ln cap="flat" cmpd="sng" w="9525">
            <a:solidFill>
              <a:srgbClr val="CCCCCC"/>
            </a:solidFill>
            <a:prstDash val="solid"/>
            <a:round/>
            <a:headEnd len="med" w="med" type="none"/>
            <a:tailEnd len="med" w="med" type="none"/>
          </a:ln>
        </p:spPr>
      </p:cxnSp>
      <p:cxnSp>
        <p:nvCxnSpPr>
          <p:cNvPr id="355" name="Google Shape;355;p14"/>
          <p:cNvCxnSpPr>
            <a:stCxn id="356" idx="0"/>
          </p:cNvCxnSpPr>
          <p:nvPr/>
        </p:nvCxnSpPr>
        <p:spPr>
          <a:xfrm flipH="1">
            <a:off x="172020" y="1360808"/>
            <a:ext cx="18300" cy="9187200"/>
          </a:xfrm>
          <a:prstGeom prst="straightConnector1">
            <a:avLst/>
          </a:prstGeom>
          <a:noFill/>
          <a:ln cap="flat" cmpd="sng" w="9525">
            <a:solidFill>
              <a:srgbClr val="CCCCCC"/>
            </a:solidFill>
            <a:prstDash val="solid"/>
            <a:round/>
            <a:headEnd len="med" w="med" type="none"/>
            <a:tailEnd len="med" w="med" type="none"/>
          </a:ln>
        </p:spPr>
      </p:cxnSp>
      <p:grpSp>
        <p:nvGrpSpPr>
          <p:cNvPr id="357" name="Google Shape;357;p14"/>
          <p:cNvGrpSpPr/>
          <p:nvPr/>
        </p:nvGrpSpPr>
        <p:grpSpPr>
          <a:xfrm>
            <a:off x="190320" y="1357857"/>
            <a:ext cx="7581691" cy="5901"/>
            <a:chOff x="1890075" y="5241175"/>
            <a:chExt cx="4240556" cy="257700"/>
          </a:xfrm>
        </p:grpSpPr>
        <p:sp>
          <p:nvSpPr>
            <p:cNvPr id="356" name="Google Shape;356;p1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58" name="Google Shape;358;p1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59" name="Google Shape;359;p1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60" name="Google Shape;360;p1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361" name="Google Shape;361;p14"/>
          <p:cNvGrpSpPr/>
          <p:nvPr/>
        </p:nvGrpSpPr>
        <p:grpSpPr>
          <a:xfrm>
            <a:off x="190320" y="1388959"/>
            <a:ext cx="7581691" cy="5901"/>
            <a:chOff x="1890075" y="5241175"/>
            <a:chExt cx="4240556" cy="257700"/>
          </a:xfrm>
        </p:grpSpPr>
        <p:sp>
          <p:nvSpPr>
            <p:cNvPr id="362" name="Google Shape;362;p1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63" name="Google Shape;363;p1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64" name="Google Shape;364;p1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65" name="Google Shape;365;p1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366" name="Google Shape;366;p14"/>
          <p:cNvSpPr txBox="1"/>
          <p:nvPr/>
        </p:nvSpPr>
        <p:spPr>
          <a:xfrm>
            <a:off x="490594" y="15441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367" name="Google Shape;367;p14"/>
          <p:cNvGrpSpPr/>
          <p:nvPr/>
        </p:nvGrpSpPr>
        <p:grpSpPr>
          <a:xfrm>
            <a:off x="372224" y="1650425"/>
            <a:ext cx="137818" cy="187200"/>
            <a:chOff x="507100" y="1997600"/>
            <a:chExt cx="158375" cy="187200"/>
          </a:xfrm>
        </p:grpSpPr>
        <p:sp>
          <p:nvSpPr>
            <p:cNvPr id="368" name="Google Shape;368;p14"/>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4"/>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 name="Google Shape;370;p14"/>
          <p:cNvSpPr txBox="1"/>
          <p:nvPr/>
        </p:nvSpPr>
        <p:spPr>
          <a:xfrm>
            <a:off x="3314919" y="15441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371" name="Google Shape;371;p14"/>
          <p:cNvGrpSpPr/>
          <p:nvPr/>
        </p:nvGrpSpPr>
        <p:grpSpPr>
          <a:xfrm>
            <a:off x="3196549" y="1650425"/>
            <a:ext cx="137818" cy="187200"/>
            <a:chOff x="507100" y="1997600"/>
            <a:chExt cx="158375" cy="187200"/>
          </a:xfrm>
        </p:grpSpPr>
        <p:sp>
          <p:nvSpPr>
            <p:cNvPr id="372" name="Google Shape;372;p14"/>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4"/>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4" name="Google Shape;374;p14"/>
          <p:cNvSpPr txBox="1"/>
          <p:nvPr/>
        </p:nvSpPr>
        <p:spPr>
          <a:xfrm>
            <a:off x="3314919" y="43673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KEY INSIGHTS </a:t>
            </a:r>
            <a:endParaRPr sz="1500">
              <a:latin typeface="Work Sans"/>
              <a:ea typeface="Work Sans"/>
              <a:cs typeface="Work Sans"/>
              <a:sym typeface="Work Sans"/>
            </a:endParaRPr>
          </a:p>
        </p:txBody>
      </p:sp>
      <p:grpSp>
        <p:nvGrpSpPr>
          <p:cNvPr id="375" name="Google Shape;375;p14"/>
          <p:cNvGrpSpPr/>
          <p:nvPr/>
        </p:nvGrpSpPr>
        <p:grpSpPr>
          <a:xfrm>
            <a:off x="3196549" y="4473625"/>
            <a:ext cx="137818" cy="187200"/>
            <a:chOff x="507100" y="1997600"/>
            <a:chExt cx="158375" cy="187200"/>
          </a:xfrm>
        </p:grpSpPr>
        <p:sp>
          <p:nvSpPr>
            <p:cNvPr id="376" name="Google Shape;376;p14"/>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4"/>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 name="Google Shape;378;p14"/>
          <p:cNvGrpSpPr/>
          <p:nvPr/>
        </p:nvGrpSpPr>
        <p:grpSpPr>
          <a:xfrm>
            <a:off x="172050" y="5100163"/>
            <a:ext cx="2852450" cy="4958106"/>
            <a:chOff x="404700" y="4541500"/>
            <a:chExt cx="2852450" cy="5007177"/>
          </a:xfrm>
        </p:grpSpPr>
        <p:sp>
          <p:nvSpPr>
            <p:cNvPr id="379" name="Google Shape;379;p14"/>
            <p:cNvSpPr/>
            <p:nvPr/>
          </p:nvSpPr>
          <p:spPr>
            <a:xfrm>
              <a:off x="404700" y="4574122"/>
              <a:ext cx="2758200" cy="4933800"/>
            </a:xfrm>
            <a:prstGeom prst="rect">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p:nvPr/>
          </p:nvSpPr>
          <p:spPr>
            <a:xfrm>
              <a:off x="452450" y="4614877"/>
              <a:ext cx="2804700" cy="49338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4"/>
            <p:cNvSpPr txBox="1"/>
            <p:nvPr/>
          </p:nvSpPr>
          <p:spPr>
            <a:xfrm>
              <a:off x="643125" y="4541500"/>
              <a:ext cx="2595900" cy="41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IMPACT</a:t>
              </a:r>
              <a:endParaRPr sz="1500">
                <a:latin typeface="Work Sans"/>
                <a:ea typeface="Work Sans"/>
                <a:cs typeface="Work Sans"/>
                <a:sym typeface="Work Sans"/>
              </a:endParaRPr>
            </a:p>
          </p:txBody>
        </p:sp>
        <p:sp>
          <p:nvSpPr>
            <p:cNvPr id="382" name="Google Shape;382;p14"/>
            <p:cNvSpPr/>
            <p:nvPr/>
          </p:nvSpPr>
          <p:spPr>
            <a:xfrm>
              <a:off x="529575" y="4663612"/>
              <a:ext cx="135900" cy="2004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a:off x="507100" y="4684392"/>
              <a:ext cx="135900" cy="1569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4" name="Google Shape;384;p14"/>
          <p:cNvSpPr txBox="1"/>
          <p:nvPr/>
        </p:nvSpPr>
        <p:spPr>
          <a:xfrm>
            <a:off x="190350" y="11200"/>
            <a:ext cx="72909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ctr">
              <a:spcBef>
                <a:spcPts val="0"/>
              </a:spcBef>
              <a:spcAft>
                <a:spcPts val="0"/>
              </a:spcAft>
              <a:buNone/>
            </a:pPr>
            <a:r>
              <a:t/>
            </a:r>
            <a:endParaRPr sz="2100">
              <a:solidFill>
                <a:srgbClr val="000000"/>
              </a:solidFill>
              <a:latin typeface="Google Sans SemiBold"/>
              <a:ea typeface="Google Sans SemiBold"/>
              <a:cs typeface="Google Sans SemiBold"/>
              <a:sym typeface="Google Sans SemiBold"/>
            </a:endParaRPr>
          </a:p>
        </p:txBody>
      </p:sp>
      <p:sp>
        <p:nvSpPr>
          <p:cNvPr id="385" name="Google Shape;385;p14"/>
          <p:cNvSpPr txBox="1"/>
          <p:nvPr/>
        </p:nvSpPr>
        <p:spPr>
          <a:xfrm>
            <a:off x="2226300" y="513400"/>
            <a:ext cx="32190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t/>
            </a:r>
            <a:endParaRPr sz="1200">
              <a:solidFill>
                <a:srgbClr val="000000"/>
              </a:solidFill>
              <a:latin typeface="PT Sans Narrow"/>
              <a:ea typeface="PT Sans Narrow"/>
              <a:cs typeface="PT Sans Narrow"/>
              <a:sym typeface="PT Sans Narrow"/>
            </a:endParaRPr>
          </a:p>
        </p:txBody>
      </p:sp>
      <p:sp>
        <p:nvSpPr>
          <p:cNvPr id="386" name="Google Shape;386;p14"/>
          <p:cNvSpPr/>
          <p:nvPr>
            <p:ph idx="2" type="pic"/>
          </p:nvPr>
        </p:nvSpPr>
        <p:spPr>
          <a:xfrm>
            <a:off x="4467025" y="5862300"/>
            <a:ext cx="3006900" cy="20448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6">
  <p:cSld name="CUSTOM_2_2">
    <p:spTree>
      <p:nvGrpSpPr>
        <p:cNvPr id="387" name="Shape 387"/>
        <p:cNvGrpSpPr/>
        <p:nvPr/>
      </p:nvGrpSpPr>
      <p:grpSpPr>
        <a:xfrm>
          <a:off x="0" y="0"/>
          <a:ext cx="0" cy="0"/>
          <a:chOff x="0" y="0"/>
          <a:chExt cx="0" cy="0"/>
        </a:xfrm>
      </p:grpSpPr>
      <p:sp>
        <p:nvSpPr>
          <p:cNvPr id="388" name="Google Shape;388;p15"/>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sp>
        <p:nvSpPr>
          <p:cNvPr id="389" name="Google Shape;389;p15"/>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grpSp>
        <p:nvGrpSpPr>
          <p:cNvPr id="390" name="Google Shape;390;p15"/>
          <p:cNvGrpSpPr/>
          <p:nvPr/>
        </p:nvGrpSpPr>
        <p:grpSpPr>
          <a:xfrm>
            <a:off x="95351" y="1392509"/>
            <a:ext cx="7581691" cy="5901"/>
            <a:chOff x="1890075" y="5241175"/>
            <a:chExt cx="4240556" cy="257700"/>
          </a:xfrm>
        </p:grpSpPr>
        <p:sp>
          <p:nvSpPr>
            <p:cNvPr id="391" name="Google Shape;391;p1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2" name="Google Shape;392;p1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3" name="Google Shape;393;p1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4" name="Google Shape;394;p1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395" name="Google Shape;395;p15"/>
          <p:cNvGrpSpPr/>
          <p:nvPr/>
        </p:nvGrpSpPr>
        <p:grpSpPr>
          <a:xfrm>
            <a:off x="95351" y="4542984"/>
            <a:ext cx="7581691" cy="5901"/>
            <a:chOff x="1890075" y="5241175"/>
            <a:chExt cx="4240556" cy="257700"/>
          </a:xfrm>
        </p:grpSpPr>
        <p:sp>
          <p:nvSpPr>
            <p:cNvPr id="396" name="Google Shape;396;p1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7" name="Google Shape;397;p1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8" name="Google Shape;398;p1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9" name="Google Shape;399;p1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400" name="Google Shape;400;p15"/>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401" name="Google Shape;401;p15"/>
          <p:cNvSpPr/>
          <p:nvPr/>
        </p:nvSpPr>
        <p:spPr>
          <a:xfrm>
            <a:off x="432000" y="31534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Objective</a:t>
            </a:r>
            <a:endParaRPr b="1">
              <a:solidFill>
                <a:schemeClr val="dk1"/>
              </a:solidFill>
              <a:latin typeface="Google Sans"/>
              <a:ea typeface="Google Sans"/>
              <a:cs typeface="Google Sans"/>
              <a:sym typeface="Google Sans"/>
            </a:endParaRPr>
          </a:p>
        </p:txBody>
      </p:sp>
      <p:sp>
        <p:nvSpPr>
          <p:cNvPr id="402" name="Google Shape;402;p15"/>
          <p:cNvSpPr/>
          <p:nvPr/>
        </p:nvSpPr>
        <p:spPr>
          <a:xfrm>
            <a:off x="432000" y="4904796"/>
            <a:ext cx="1598400" cy="2850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Results </a:t>
            </a:r>
            <a:endParaRPr b="1">
              <a:solidFill>
                <a:schemeClr val="dk1"/>
              </a:solidFill>
              <a:latin typeface="Google Sans"/>
              <a:ea typeface="Google Sans"/>
              <a:cs typeface="Google Sans"/>
              <a:sym typeface="Google Sans"/>
            </a:endParaRPr>
          </a:p>
        </p:txBody>
      </p:sp>
      <p:sp>
        <p:nvSpPr>
          <p:cNvPr id="403" name="Google Shape;403;p15"/>
          <p:cNvSpPr/>
          <p:nvPr/>
        </p:nvSpPr>
        <p:spPr>
          <a:xfrm>
            <a:off x="432000" y="8144170"/>
            <a:ext cx="1598400" cy="2691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404" name="Google Shape;404;p15"/>
          <p:cNvGrpSpPr/>
          <p:nvPr/>
        </p:nvGrpSpPr>
        <p:grpSpPr>
          <a:xfrm>
            <a:off x="95351" y="7971759"/>
            <a:ext cx="7581691" cy="5901"/>
            <a:chOff x="1890075" y="5241175"/>
            <a:chExt cx="4240556" cy="257700"/>
          </a:xfrm>
        </p:grpSpPr>
        <p:sp>
          <p:nvSpPr>
            <p:cNvPr id="405" name="Google Shape;405;p1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06" name="Google Shape;406;p1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07" name="Google Shape;407;p1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08" name="Google Shape;408;p1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409" name="Google Shape;409;p15"/>
          <p:cNvSpPr/>
          <p:nvPr>
            <p:ph idx="2" type="pic"/>
          </p:nvPr>
        </p:nvSpPr>
        <p:spPr>
          <a:xfrm>
            <a:off x="4467025" y="5862300"/>
            <a:ext cx="3006900" cy="20448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indent="-317500" lvl="1" marL="914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indent="-317500" lvl="2" marL="1371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indent="-317500" lvl="3" marL="1828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indent="-317500" lvl="4" marL="22860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indent="-317500" lvl="5" marL="27432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indent="-317500" lvl="6" marL="3200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indent="-317500" lvl="7" marL="3657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indent="-317500" lvl="8" marL="4114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91" name="Shape 191"/>
        <p:cNvGrpSpPr/>
        <p:nvPr/>
      </p:nvGrpSpPr>
      <p:grpSpPr>
        <a:xfrm>
          <a:off x="0" y="0"/>
          <a:ext cx="0" cy="0"/>
          <a:chOff x="0" y="0"/>
          <a:chExt cx="0" cy="0"/>
        </a:xfrm>
      </p:grpSpPr>
      <p:sp>
        <p:nvSpPr>
          <p:cNvPr id="192" name="Google Shape;192;p8"/>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93" name="Google Shape;193;p8"/>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indent="-317500" lvl="1" marL="914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indent="-317500" lvl="2" marL="1371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indent="-317500" lvl="3" marL="1828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indent="-317500" lvl="4" marL="22860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indent="-317500" lvl="5" marL="27432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indent="-317500" lvl="6" marL="3200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indent="-317500" lvl="7" marL="3657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indent="-317500" lvl="8" marL="4114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p:txBody>
      </p:sp>
      <p:sp>
        <p:nvSpPr>
          <p:cNvPr id="194" name="Google Shape;194;p8"/>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8"/>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 id="2147483658" r:id="rId5"/>
    <p:sldLayoutId id="2147483659" r:id="rId6"/>
    <p:sldLayoutId id="2147483660"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grpSp>
        <p:nvGrpSpPr>
          <p:cNvPr id="414" name="Google Shape;414;p16"/>
          <p:cNvGrpSpPr/>
          <p:nvPr/>
        </p:nvGrpSpPr>
        <p:grpSpPr>
          <a:xfrm>
            <a:off x="404725" y="508525"/>
            <a:ext cx="5190000" cy="771300"/>
            <a:chOff x="188700" y="665125"/>
            <a:chExt cx="5190000" cy="771300"/>
          </a:xfrm>
        </p:grpSpPr>
        <p:sp>
          <p:nvSpPr>
            <p:cNvPr id="415" name="Google Shape;415;p16"/>
            <p:cNvSpPr txBox="1"/>
            <p:nvPr/>
          </p:nvSpPr>
          <p:spPr>
            <a:xfrm>
              <a:off x="188700" y="665125"/>
              <a:ext cx="51900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en" sz="1600">
                  <a:latin typeface="Google Sans SemiBold"/>
                  <a:ea typeface="Google Sans SemiBold"/>
                  <a:cs typeface="Google Sans SemiBold"/>
                  <a:sym typeface="Google Sans SemiBold"/>
                </a:rPr>
                <a:t>Waze User Churn Project </a:t>
              </a:r>
              <a:endParaRPr sz="1900">
                <a:solidFill>
                  <a:srgbClr val="000000"/>
                </a:solidFill>
                <a:latin typeface="Google Sans SemiBold"/>
                <a:ea typeface="Google Sans SemiBold"/>
                <a:cs typeface="Google Sans SemiBold"/>
                <a:sym typeface="Google Sans SemiBold"/>
              </a:endParaRPr>
            </a:p>
          </p:txBody>
        </p:sp>
        <p:sp>
          <p:nvSpPr>
            <p:cNvPr id="416" name="Google Shape;416;p16"/>
            <p:cNvSpPr txBox="1"/>
            <p:nvPr/>
          </p:nvSpPr>
          <p:spPr>
            <a:xfrm>
              <a:off x="188700" y="1036225"/>
              <a:ext cx="3516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a:latin typeface="Roboto"/>
                  <a:ea typeface="Roboto"/>
                  <a:cs typeface="Roboto"/>
                  <a:sym typeface="Roboto"/>
                </a:rPr>
                <a:t>Preliminary Data Summary</a:t>
              </a:r>
              <a:endParaRPr>
                <a:solidFill>
                  <a:srgbClr val="000000"/>
                </a:solidFill>
                <a:latin typeface="Roboto"/>
                <a:ea typeface="Roboto"/>
                <a:cs typeface="Roboto"/>
                <a:sym typeface="Roboto"/>
              </a:endParaRPr>
            </a:p>
          </p:txBody>
        </p:sp>
      </p:grpSp>
      <p:sp>
        <p:nvSpPr>
          <p:cNvPr id="417" name="Google Shape;417;p16"/>
          <p:cNvSpPr txBox="1"/>
          <p:nvPr/>
        </p:nvSpPr>
        <p:spPr>
          <a:xfrm>
            <a:off x="489900" y="1990250"/>
            <a:ext cx="6690300" cy="11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Google Sans"/>
                <a:ea typeface="Google Sans"/>
                <a:cs typeface="Google Sans"/>
                <a:sym typeface="Google Sans"/>
              </a:rPr>
              <a:t>The Waze team is seeking to understand the factors that influence user churn, and develop a predictive model to identify users at risk of leaving the platform. Through exploratory data analysis, feature engineering and machine learning, key drivers of churn can help generate </a:t>
            </a:r>
            <a:r>
              <a:rPr lang="en">
                <a:solidFill>
                  <a:schemeClr val="dk1"/>
                </a:solidFill>
                <a:latin typeface="Google Sans"/>
                <a:ea typeface="Google Sans"/>
                <a:cs typeface="Google Sans"/>
                <a:sym typeface="Google Sans"/>
              </a:rPr>
              <a:t>actionable</a:t>
            </a:r>
            <a:r>
              <a:rPr lang="en">
                <a:solidFill>
                  <a:schemeClr val="dk1"/>
                </a:solidFill>
                <a:latin typeface="Google Sans"/>
                <a:ea typeface="Google Sans"/>
                <a:cs typeface="Google Sans"/>
                <a:sym typeface="Google Sans"/>
              </a:rPr>
              <a:t> business recommendations aimed at improving user retention.</a:t>
            </a:r>
            <a:endParaRPr>
              <a:solidFill>
                <a:schemeClr val="dk1"/>
              </a:solidFill>
              <a:latin typeface="Google Sans"/>
              <a:ea typeface="Google Sans"/>
              <a:cs typeface="Google Sans"/>
              <a:sym typeface="Google Sans"/>
            </a:endParaRPr>
          </a:p>
        </p:txBody>
      </p:sp>
      <p:sp>
        <p:nvSpPr>
          <p:cNvPr id="418" name="Google Shape;418;p16"/>
          <p:cNvSpPr txBox="1"/>
          <p:nvPr/>
        </p:nvSpPr>
        <p:spPr>
          <a:xfrm>
            <a:off x="445850" y="3757575"/>
            <a:ext cx="3237300" cy="2741700"/>
          </a:xfrm>
          <a:prstGeom prst="rect">
            <a:avLst/>
          </a:prstGeom>
          <a:noFill/>
          <a:ln>
            <a:noFill/>
          </a:ln>
        </p:spPr>
        <p:txBody>
          <a:bodyPr anchorCtr="0" anchor="t" bIns="91425" lIns="91425" spcFirstLastPara="1" rIns="91425" wrap="square" tIns="91425">
            <a:noAutofit/>
          </a:bodyPr>
          <a:lstStyle/>
          <a:p>
            <a:pPr indent="-317500" lvl="0" marL="342900" rtl="0" algn="l">
              <a:spcBef>
                <a:spcPts val="0"/>
              </a:spcBef>
              <a:spcAft>
                <a:spcPts val="0"/>
              </a:spcAft>
              <a:buClr>
                <a:schemeClr val="dk1"/>
              </a:buClr>
              <a:buSzPts val="1400"/>
              <a:buFont typeface="Google Sans"/>
              <a:buChar char="●"/>
            </a:pPr>
            <a:r>
              <a:rPr lang="en">
                <a:solidFill>
                  <a:schemeClr val="dk1"/>
                </a:solidFill>
                <a:latin typeface="Google Sans"/>
                <a:ea typeface="Google Sans"/>
                <a:cs typeface="Google Sans"/>
                <a:sym typeface="Google Sans"/>
              </a:rPr>
              <a:t>Currently, we are in the early stages of understanding data</a:t>
            </a:r>
            <a:endParaRPr>
              <a:solidFill>
                <a:schemeClr val="dk1"/>
              </a:solidFill>
              <a:latin typeface="Google Sans"/>
              <a:ea typeface="Google Sans"/>
              <a:cs typeface="Google Sans"/>
              <a:sym typeface="Google Sans"/>
            </a:endParaRPr>
          </a:p>
          <a:p>
            <a:pPr indent="-317500" lvl="0" marL="342900" rtl="0" algn="l">
              <a:spcBef>
                <a:spcPts val="0"/>
              </a:spcBef>
              <a:spcAft>
                <a:spcPts val="0"/>
              </a:spcAft>
              <a:buClr>
                <a:schemeClr val="dk1"/>
              </a:buClr>
              <a:buSzPts val="1400"/>
              <a:buFont typeface="Google Sans"/>
              <a:buChar char="●"/>
            </a:pPr>
            <a:r>
              <a:rPr lang="en">
                <a:solidFill>
                  <a:schemeClr val="dk1"/>
                </a:solidFill>
                <a:latin typeface="Google Sans"/>
                <a:ea typeface="Google Sans"/>
                <a:cs typeface="Google Sans"/>
                <a:sym typeface="Google Sans"/>
              </a:rPr>
              <a:t>Understanding data, checking descriptive statistics for each column</a:t>
            </a:r>
            <a:endParaRPr>
              <a:solidFill>
                <a:schemeClr val="dk1"/>
              </a:solidFill>
              <a:latin typeface="Google Sans"/>
              <a:ea typeface="Google Sans"/>
              <a:cs typeface="Google Sans"/>
              <a:sym typeface="Google Sans"/>
            </a:endParaRPr>
          </a:p>
          <a:p>
            <a:pPr indent="-317500" lvl="0" marL="342900" rtl="0" algn="l">
              <a:spcBef>
                <a:spcPts val="0"/>
              </a:spcBef>
              <a:spcAft>
                <a:spcPts val="0"/>
              </a:spcAft>
              <a:buClr>
                <a:schemeClr val="dk1"/>
              </a:buClr>
              <a:buSzPts val="1400"/>
              <a:buFont typeface="Google Sans"/>
              <a:buChar char="●"/>
            </a:pPr>
            <a:r>
              <a:rPr lang="en">
                <a:solidFill>
                  <a:schemeClr val="dk1"/>
                </a:solidFill>
                <a:latin typeface="Google Sans"/>
                <a:ea typeface="Google Sans"/>
                <a:cs typeface="Google Sans"/>
                <a:sym typeface="Google Sans"/>
              </a:rPr>
              <a:t>Looking at breakdowns of users who churned vs. users who haven’t churned, to see which variables may provide more insights.</a:t>
            </a:r>
            <a:endParaRPr>
              <a:solidFill>
                <a:schemeClr val="dk1"/>
              </a:solidFill>
              <a:latin typeface="Google Sans"/>
              <a:ea typeface="Google Sans"/>
              <a:cs typeface="Google Sans"/>
              <a:sym typeface="Google Sans"/>
            </a:endParaRPr>
          </a:p>
          <a:p>
            <a:pPr indent="-317500" lvl="0" marL="342900" rtl="0" algn="l">
              <a:spcBef>
                <a:spcPts val="0"/>
              </a:spcBef>
              <a:spcAft>
                <a:spcPts val="0"/>
              </a:spcAft>
              <a:buClr>
                <a:schemeClr val="dk1"/>
              </a:buClr>
              <a:buSzPts val="1400"/>
              <a:buFont typeface="Google Sans"/>
              <a:buChar char="●"/>
            </a:pPr>
            <a:r>
              <a:rPr lang="en">
                <a:solidFill>
                  <a:schemeClr val="dk1"/>
                </a:solidFill>
                <a:latin typeface="Google Sans"/>
                <a:ea typeface="Google Sans"/>
                <a:cs typeface="Google Sans"/>
                <a:sym typeface="Google Sans"/>
              </a:rPr>
              <a:t>Feature engineering: Developing new features from the current data</a:t>
            </a:r>
            <a:endParaRPr>
              <a:solidFill>
                <a:schemeClr val="dk1"/>
              </a:solidFill>
              <a:latin typeface="Google Sans"/>
              <a:ea typeface="Google Sans"/>
              <a:cs typeface="Google Sans"/>
              <a:sym typeface="Google Sans"/>
            </a:endParaRPr>
          </a:p>
        </p:txBody>
      </p:sp>
      <p:sp>
        <p:nvSpPr>
          <p:cNvPr id="419" name="Google Shape;419;p16"/>
          <p:cNvSpPr txBox="1"/>
          <p:nvPr/>
        </p:nvSpPr>
        <p:spPr>
          <a:xfrm>
            <a:off x="3930875" y="3765700"/>
            <a:ext cx="3352800" cy="60285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Google Sans"/>
              <a:buChar char="●"/>
            </a:pPr>
            <a:r>
              <a:rPr lang="en" sz="1500">
                <a:solidFill>
                  <a:schemeClr val="dk1"/>
                </a:solidFill>
                <a:latin typeface="Google Sans"/>
                <a:ea typeface="Google Sans"/>
                <a:cs typeface="Google Sans"/>
                <a:sym typeface="Google Sans"/>
              </a:rPr>
              <a:t>There were 700 null rows, each without the label status of the row</a:t>
            </a:r>
            <a:endParaRPr sz="1500">
              <a:solidFill>
                <a:schemeClr val="dk1"/>
              </a:solidFill>
              <a:latin typeface="Google Sans"/>
              <a:ea typeface="Google Sans"/>
              <a:cs typeface="Google Sans"/>
              <a:sym typeface="Google Sans"/>
            </a:endParaRPr>
          </a:p>
          <a:p>
            <a:pPr indent="0" lvl="0" marL="457200" rtl="0" algn="l">
              <a:spcBef>
                <a:spcPts val="0"/>
              </a:spcBef>
              <a:spcAft>
                <a:spcPts val="0"/>
              </a:spcAft>
              <a:buNone/>
            </a:pPr>
            <a:r>
              <a:t/>
            </a:r>
            <a:endParaRPr sz="1500">
              <a:solidFill>
                <a:schemeClr val="dk1"/>
              </a:solidFill>
              <a:latin typeface="Google Sans"/>
              <a:ea typeface="Google Sans"/>
              <a:cs typeface="Google Sans"/>
              <a:sym typeface="Google Sans"/>
            </a:endParaRPr>
          </a:p>
          <a:p>
            <a:pPr indent="-323850" lvl="0" marL="457200" rtl="0" algn="l">
              <a:spcBef>
                <a:spcPts val="0"/>
              </a:spcBef>
              <a:spcAft>
                <a:spcPts val="0"/>
              </a:spcAft>
              <a:buClr>
                <a:schemeClr val="dk1"/>
              </a:buClr>
              <a:buSzPts val="1500"/>
              <a:buFont typeface="Google Sans"/>
              <a:buChar char="●"/>
            </a:pPr>
            <a:r>
              <a:rPr lang="en" sz="1500">
                <a:solidFill>
                  <a:schemeClr val="dk1"/>
                </a:solidFill>
                <a:latin typeface="Google Sans"/>
                <a:ea typeface="Google Sans"/>
                <a:cs typeface="Google Sans"/>
                <a:sym typeface="Google Sans"/>
              </a:rPr>
              <a:t>64% of users own iphones, 36% own Androids</a:t>
            </a:r>
            <a:endParaRPr sz="1500">
              <a:solidFill>
                <a:schemeClr val="dk1"/>
              </a:solidFill>
              <a:latin typeface="Google Sans"/>
              <a:ea typeface="Google Sans"/>
              <a:cs typeface="Google Sans"/>
              <a:sym typeface="Google Sans"/>
            </a:endParaRPr>
          </a:p>
          <a:p>
            <a:pPr indent="0" lvl="0" marL="0" rtl="0" algn="l">
              <a:spcBef>
                <a:spcPts val="0"/>
              </a:spcBef>
              <a:spcAft>
                <a:spcPts val="0"/>
              </a:spcAft>
              <a:buNone/>
            </a:pPr>
            <a:r>
              <a:t/>
            </a:r>
            <a:endParaRPr sz="1500">
              <a:solidFill>
                <a:schemeClr val="dk1"/>
              </a:solidFill>
              <a:latin typeface="Google Sans"/>
              <a:ea typeface="Google Sans"/>
              <a:cs typeface="Google Sans"/>
              <a:sym typeface="Google Sans"/>
            </a:endParaRPr>
          </a:p>
          <a:p>
            <a:pPr indent="-323850" lvl="0" marL="457200" rtl="0" algn="l">
              <a:spcBef>
                <a:spcPts val="0"/>
              </a:spcBef>
              <a:spcAft>
                <a:spcPts val="0"/>
              </a:spcAft>
              <a:buClr>
                <a:schemeClr val="dk1"/>
              </a:buClr>
              <a:buSzPts val="1500"/>
              <a:buFont typeface="Google Sans"/>
              <a:buChar char="●"/>
            </a:pPr>
            <a:r>
              <a:rPr lang="en" sz="1500">
                <a:solidFill>
                  <a:schemeClr val="dk1"/>
                </a:solidFill>
                <a:latin typeface="Google Sans"/>
                <a:ea typeface="Google Sans"/>
                <a:cs typeface="Google Sans"/>
                <a:sym typeface="Google Sans"/>
              </a:rPr>
              <a:t>Churned users had more km driven and minutes drove, but for some reason, less driving and activity days.</a:t>
            </a:r>
            <a:endParaRPr sz="1500">
              <a:solidFill>
                <a:schemeClr val="dk1"/>
              </a:solidFill>
              <a:latin typeface="Google Sans"/>
              <a:ea typeface="Google Sans"/>
              <a:cs typeface="Google Sans"/>
              <a:sym typeface="Google Sans"/>
            </a:endParaRPr>
          </a:p>
          <a:p>
            <a:pPr indent="0" lvl="0" marL="0" rtl="0" algn="l">
              <a:spcBef>
                <a:spcPts val="0"/>
              </a:spcBef>
              <a:spcAft>
                <a:spcPts val="0"/>
              </a:spcAft>
              <a:buNone/>
            </a:pPr>
            <a:r>
              <a:t/>
            </a:r>
            <a:endParaRPr sz="1500">
              <a:solidFill>
                <a:schemeClr val="dk1"/>
              </a:solidFill>
              <a:latin typeface="Google Sans"/>
              <a:ea typeface="Google Sans"/>
              <a:cs typeface="Google Sans"/>
              <a:sym typeface="Google Sans"/>
            </a:endParaRPr>
          </a:p>
          <a:p>
            <a:pPr indent="-323850" lvl="0" marL="457200" rtl="0" algn="l">
              <a:spcBef>
                <a:spcPts val="0"/>
              </a:spcBef>
              <a:spcAft>
                <a:spcPts val="0"/>
              </a:spcAft>
              <a:buClr>
                <a:schemeClr val="dk1"/>
              </a:buClr>
              <a:buSzPts val="1500"/>
              <a:buFont typeface="Google Sans"/>
              <a:buChar char="●"/>
            </a:pPr>
            <a:r>
              <a:rPr lang="en" sz="1500">
                <a:solidFill>
                  <a:schemeClr val="dk1"/>
                </a:solidFill>
                <a:latin typeface="Google Sans"/>
                <a:ea typeface="Google Sans"/>
                <a:cs typeface="Google Sans"/>
                <a:sym typeface="Google Sans"/>
              </a:rPr>
              <a:t>Km per drive: the retained users median was 75, churned users median = 74</a:t>
            </a:r>
            <a:endParaRPr sz="1500">
              <a:solidFill>
                <a:schemeClr val="dk1"/>
              </a:solidFill>
              <a:latin typeface="Google Sans"/>
              <a:ea typeface="Google Sans"/>
              <a:cs typeface="Google Sans"/>
              <a:sym typeface="Google Sans"/>
            </a:endParaRPr>
          </a:p>
          <a:p>
            <a:pPr indent="0" lvl="0" marL="0" rtl="0" algn="l">
              <a:spcBef>
                <a:spcPts val="0"/>
              </a:spcBef>
              <a:spcAft>
                <a:spcPts val="0"/>
              </a:spcAft>
              <a:buNone/>
            </a:pPr>
            <a:r>
              <a:t/>
            </a:r>
            <a:endParaRPr sz="1500">
              <a:solidFill>
                <a:schemeClr val="dk1"/>
              </a:solidFill>
              <a:latin typeface="Google Sans"/>
              <a:ea typeface="Google Sans"/>
              <a:cs typeface="Google Sans"/>
              <a:sym typeface="Google Sans"/>
            </a:endParaRPr>
          </a:p>
          <a:p>
            <a:pPr indent="-323850" lvl="0" marL="457200" rtl="0" algn="l">
              <a:spcBef>
                <a:spcPts val="0"/>
              </a:spcBef>
              <a:spcAft>
                <a:spcPts val="0"/>
              </a:spcAft>
              <a:buClr>
                <a:schemeClr val="dk1"/>
              </a:buClr>
              <a:buSzPts val="1500"/>
              <a:buFont typeface="Google Sans"/>
              <a:buChar char="●"/>
            </a:pPr>
            <a:r>
              <a:rPr lang="en" sz="1500">
                <a:solidFill>
                  <a:schemeClr val="dk1"/>
                </a:solidFill>
                <a:latin typeface="Google Sans"/>
                <a:ea typeface="Google Sans"/>
                <a:cs typeface="Google Sans"/>
                <a:sym typeface="Google Sans"/>
              </a:rPr>
              <a:t>Km per driving day: Churned users = 697.5, retained = 289.5 km/driving day</a:t>
            </a:r>
            <a:endParaRPr sz="1500">
              <a:solidFill>
                <a:schemeClr val="dk1"/>
              </a:solidFill>
              <a:latin typeface="Google Sans"/>
              <a:ea typeface="Google Sans"/>
              <a:cs typeface="Google Sans"/>
              <a:sym typeface="Google Sans"/>
            </a:endParaRPr>
          </a:p>
          <a:p>
            <a:pPr indent="0" lvl="0" marL="0" rtl="0" algn="l">
              <a:spcBef>
                <a:spcPts val="0"/>
              </a:spcBef>
              <a:spcAft>
                <a:spcPts val="0"/>
              </a:spcAft>
              <a:buNone/>
            </a:pPr>
            <a:r>
              <a:t/>
            </a:r>
            <a:endParaRPr sz="1500">
              <a:solidFill>
                <a:schemeClr val="dk1"/>
              </a:solidFill>
              <a:latin typeface="Google Sans"/>
              <a:ea typeface="Google Sans"/>
              <a:cs typeface="Google Sans"/>
              <a:sym typeface="Google Sans"/>
            </a:endParaRPr>
          </a:p>
          <a:p>
            <a:pPr indent="-323850" lvl="0" marL="457200" rtl="0" algn="l">
              <a:spcBef>
                <a:spcPts val="0"/>
              </a:spcBef>
              <a:spcAft>
                <a:spcPts val="0"/>
              </a:spcAft>
              <a:buClr>
                <a:schemeClr val="dk1"/>
              </a:buClr>
              <a:buSzPts val="1500"/>
              <a:buFont typeface="Google Sans"/>
              <a:buChar char="●"/>
            </a:pPr>
            <a:r>
              <a:rPr lang="en" sz="1500">
                <a:solidFill>
                  <a:schemeClr val="dk1"/>
                </a:solidFill>
                <a:latin typeface="Google Sans"/>
                <a:ea typeface="Google Sans"/>
                <a:cs typeface="Google Sans"/>
                <a:sym typeface="Google Sans"/>
              </a:rPr>
              <a:t>Iphone and Android ratio for churned and retained was both 64% and 36%, which may indicate that this doesn’t have an effect on whether users churn</a:t>
            </a:r>
            <a:endParaRPr sz="1500">
              <a:solidFill>
                <a:schemeClr val="dk1"/>
              </a:solidFill>
              <a:latin typeface="Google Sans"/>
              <a:ea typeface="Google Sans"/>
              <a:cs typeface="Google Sans"/>
              <a:sym typeface="Google Sans"/>
            </a:endParaRPr>
          </a:p>
        </p:txBody>
      </p:sp>
      <p:sp>
        <p:nvSpPr>
          <p:cNvPr id="420" name="Google Shape;420;p16"/>
          <p:cNvSpPr txBox="1"/>
          <p:nvPr/>
        </p:nvSpPr>
        <p:spPr>
          <a:xfrm>
            <a:off x="512000" y="7118500"/>
            <a:ext cx="3105000" cy="2593200"/>
          </a:xfrm>
          <a:prstGeom prst="rect">
            <a:avLst/>
          </a:prstGeom>
          <a:noFill/>
          <a:ln>
            <a:noFill/>
          </a:ln>
        </p:spPr>
        <p:txBody>
          <a:bodyPr anchorCtr="0" anchor="t" bIns="91425" lIns="91425" spcFirstLastPara="1" rIns="91425" wrap="square" tIns="91425">
            <a:noAutofit/>
          </a:bodyPr>
          <a:lstStyle/>
          <a:p>
            <a:pPr indent="-317500" lvl="0" marL="342900" rtl="0" algn="l">
              <a:spcBef>
                <a:spcPts val="0"/>
              </a:spcBef>
              <a:spcAft>
                <a:spcPts val="0"/>
              </a:spcAft>
              <a:buClr>
                <a:schemeClr val="dk1"/>
              </a:buClr>
              <a:buSzPts val="1400"/>
              <a:buFont typeface="Google Sans"/>
              <a:buChar char="●"/>
            </a:pPr>
            <a:r>
              <a:rPr lang="en">
                <a:solidFill>
                  <a:schemeClr val="dk1"/>
                </a:solidFill>
                <a:latin typeface="Google Sans"/>
                <a:ea typeface="Google Sans"/>
                <a:cs typeface="Google Sans"/>
                <a:sym typeface="Google Sans"/>
              </a:rPr>
              <a:t>Research the reason why churned users may have driven more km and more minutes driven</a:t>
            </a:r>
            <a:endParaRPr>
              <a:solidFill>
                <a:schemeClr val="dk1"/>
              </a:solidFill>
              <a:latin typeface="Google Sans"/>
              <a:ea typeface="Google Sans"/>
              <a:cs typeface="Google Sans"/>
              <a:sym typeface="Google Sans"/>
            </a:endParaRPr>
          </a:p>
          <a:p>
            <a:pPr indent="-317500" lvl="0" marL="342900" rtl="0" algn="l">
              <a:spcBef>
                <a:spcPts val="0"/>
              </a:spcBef>
              <a:spcAft>
                <a:spcPts val="0"/>
              </a:spcAft>
              <a:buClr>
                <a:schemeClr val="dk1"/>
              </a:buClr>
              <a:buSzPts val="1400"/>
              <a:buFont typeface="Google Sans"/>
              <a:buChar char="●"/>
            </a:pPr>
            <a:r>
              <a:rPr lang="en">
                <a:solidFill>
                  <a:schemeClr val="dk1"/>
                </a:solidFill>
                <a:latin typeface="Google Sans"/>
                <a:ea typeface="Google Sans"/>
                <a:cs typeface="Google Sans"/>
                <a:sym typeface="Google Sans"/>
              </a:rPr>
              <a:t>Create graphs, histograms, and plots to discover more insights into relationships between variables</a:t>
            </a:r>
            <a:endParaRPr>
              <a:solidFill>
                <a:schemeClr val="dk1"/>
              </a:solidFill>
              <a:latin typeface="Google Sans"/>
              <a:ea typeface="Google Sans"/>
              <a:cs typeface="Google Sans"/>
              <a:sym typeface="Google Sans"/>
            </a:endParaRPr>
          </a:p>
          <a:p>
            <a:pPr indent="-317500" lvl="0" marL="342900" rtl="0" algn="l">
              <a:spcBef>
                <a:spcPts val="0"/>
              </a:spcBef>
              <a:spcAft>
                <a:spcPts val="0"/>
              </a:spcAft>
              <a:buClr>
                <a:schemeClr val="dk1"/>
              </a:buClr>
              <a:buSzPts val="1400"/>
              <a:buFont typeface="Google Sans"/>
              <a:buChar char="●"/>
            </a:pPr>
            <a:r>
              <a:rPr lang="en">
                <a:solidFill>
                  <a:schemeClr val="dk1"/>
                </a:solidFill>
                <a:latin typeface="Google Sans"/>
                <a:ea typeface="Google Sans"/>
                <a:cs typeface="Google Sans"/>
                <a:sym typeface="Google Sans"/>
              </a:rPr>
              <a:t>Look into km per driving day, as churned users had a significantly higher median of km/driving days</a:t>
            </a:r>
            <a:endParaRPr>
              <a:solidFill>
                <a:schemeClr val="dk1"/>
              </a:solidFill>
              <a:latin typeface="Google Sans"/>
              <a:ea typeface="Google Sans"/>
              <a:cs typeface="Google Sans"/>
              <a:sym typeface="Google Sans"/>
            </a:endParaRPr>
          </a:p>
        </p:txBody>
      </p:sp>
      <p:pic>
        <p:nvPicPr>
          <p:cNvPr id="421" name="Google Shape;421;p16"/>
          <p:cNvPicPr preferRelativeResize="0"/>
          <p:nvPr/>
        </p:nvPicPr>
        <p:blipFill>
          <a:blip r:embed="rId3">
            <a:alphaModFix/>
          </a:blip>
          <a:stretch>
            <a:fillRect/>
          </a:stretch>
        </p:blipFill>
        <p:spPr>
          <a:xfrm>
            <a:off x="6617950" y="362900"/>
            <a:ext cx="665725" cy="665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17"/>
          <p:cNvSpPr txBox="1"/>
          <p:nvPr/>
        </p:nvSpPr>
        <p:spPr>
          <a:xfrm>
            <a:off x="3484150" y="5073675"/>
            <a:ext cx="3425700" cy="5028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5000"/>
              </a:lnSpc>
              <a:spcBef>
                <a:spcPts val="0"/>
              </a:spcBef>
              <a:spcAft>
                <a:spcPts val="0"/>
              </a:spcAft>
              <a:buNone/>
            </a:pPr>
            <a:r>
              <a:rPr b="1" i="1" lang="en" sz="1100">
                <a:latin typeface="Lato"/>
                <a:ea typeface="Lato"/>
                <a:cs typeface="Lato"/>
                <a:sym typeface="Lato"/>
              </a:rPr>
              <a:t>Driving vs. Activity Days</a:t>
            </a:r>
            <a:r>
              <a:rPr i="1" lang="en" sz="1100">
                <a:latin typeface="Lato"/>
                <a:ea typeface="Lato"/>
                <a:cs typeface="Lato"/>
                <a:sym typeface="Lato"/>
              </a:rPr>
              <a:t>: Number of activity days exceeded number of driving days. </a:t>
            </a:r>
            <a:endParaRPr i="1" sz="1100">
              <a:solidFill>
                <a:srgbClr val="000000"/>
              </a:solidFill>
              <a:latin typeface="Lato"/>
              <a:ea typeface="Lato"/>
              <a:cs typeface="Lato"/>
              <a:sym typeface="Lato"/>
            </a:endParaRPr>
          </a:p>
        </p:txBody>
      </p:sp>
      <p:sp>
        <p:nvSpPr>
          <p:cNvPr id="427" name="Google Shape;427;p17"/>
          <p:cNvSpPr txBox="1"/>
          <p:nvPr/>
        </p:nvSpPr>
        <p:spPr>
          <a:xfrm>
            <a:off x="6080550" y="1368475"/>
            <a:ext cx="1496100" cy="12900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05000"/>
              </a:lnSpc>
              <a:spcBef>
                <a:spcPts val="0"/>
              </a:spcBef>
              <a:spcAft>
                <a:spcPts val="0"/>
              </a:spcAft>
              <a:buNone/>
            </a:pPr>
            <a:r>
              <a:rPr b="1" i="1" lang="en" sz="1100">
                <a:latin typeface="Lato"/>
                <a:ea typeface="Lato"/>
                <a:cs typeface="Lato"/>
                <a:sym typeface="Lato"/>
              </a:rPr>
              <a:t>Histogram of Number of Drives</a:t>
            </a:r>
            <a:r>
              <a:rPr i="1" lang="en" sz="1100">
                <a:latin typeface="Lato"/>
                <a:ea typeface="Lato"/>
                <a:cs typeface="Lato"/>
                <a:sym typeface="Lato"/>
              </a:rPr>
              <a:t>: Right skewed,  with most drivers between 0-200 drives. Few drivers with more than 400 drives</a:t>
            </a:r>
            <a:endParaRPr i="1" sz="1100">
              <a:solidFill>
                <a:srgbClr val="000000"/>
              </a:solidFill>
              <a:latin typeface="Lato"/>
              <a:ea typeface="Lato"/>
              <a:cs typeface="Lato"/>
              <a:sym typeface="Lato"/>
            </a:endParaRPr>
          </a:p>
        </p:txBody>
      </p:sp>
      <p:grpSp>
        <p:nvGrpSpPr>
          <p:cNvPr id="428" name="Google Shape;428;p17"/>
          <p:cNvGrpSpPr/>
          <p:nvPr/>
        </p:nvGrpSpPr>
        <p:grpSpPr>
          <a:xfrm>
            <a:off x="176650" y="131675"/>
            <a:ext cx="5190000" cy="771300"/>
            <a:chOff x="188700" y="665125"/>
            <a:chExt cx="5190000" cy="771300"/>
          </a:xfrm>
        </p:grpSpPr>
        <p:sp>
          <p:nvSpPr>
            <p:cNvPr id="429" name="Google Shape;429;p17"/>
            <p:cNvSpPr txBox="1"/>
            <p:nvPr/>
          </p:nvSpPr>
          <p:spPr>
            <a:xfrm>
              <a:off x="188700" y="665125"/>
              <a:ext cx="51900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en" sz="1600">
                  <a:latin typeface="Google Sans SemiBold"/>
                  <a:ea typeface="Google Sans SemiBold"/>
                  <a:cs typeface="Google Sans SemiBold"/>
                  <a:sym typeface="Google Sans SemiBold"/>
                </a:rPr>
                <a:t>Title: Waze User Churn Project</a:t>
              </a:r>
              <a:endParaRPr sz="1900">
                <a:solidFill>
                  <a:srgbClr val="000000"/>
                </a:solidFill>
                <a:latin typeface="Google Sans SemiBold"/>
                <a:ea typeface="Google Sans SemiBold"/>
                <a:cs typeface="Google Sans SemiBold"/>
                <a:sym typeface="Google Sans SemiBold"/>
              </a:endParaRPr>
            </a:p>
          </p:txBody>
        </p:sp>
        <p:sp>
          <p:nvSpPr>
            <p:cNvPr id="430" name="Google Shape;430;p17"/>
            <p:cNvSpPr txBox="1"/>
            <p:nvPr/>
          </p:nvSpPr>
          <p:spPr>
            <a:xfrm>
              <a:off x="188700" y="1036225"/>
              <a:ext cx="3516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a:latin typeface="Roboto"/>
                  <a:ea typeface="Roboto"/>
                  <a:cs typeface="Roboto"/>
                  <a:sym typeface="Roboto"/>
                </a:rPr>
                <a:t>Exploratory Data Analysis Insights</a:t>
              </a:r>
              <a:endParaRPr>
                <a:solidFill>
                  <a:srgbClr val="000000"/>
                </a:solidFill>
                <a:latin typeface="Roboto"/>
                <a:ea typeface="Roboto"/>
                <a:cs typeface="Roboto"/>
                <a:sym typeface="Roboto"/>
              </a:endParaRPr>
            </a:p>
          </p:txBody>
        </p:sp>
      </p:grpSp>
      <p:pic>
        <p:nvPicPr>
          <p:cNvPr id="431" name="Google Shape;431;p17"/>
          <p:cNvPicPr preferRelativeResize="0"/>
          <p:nvPr/>
        </p:nvPicPr>
        <p:blipFill>
          <a:blip r:embed="rId3">
            <a:alphaModFix/>
          </a:blip>
          <a:stretch>
            <a:fillRect/>
          </a:stretch>
        </p:blipFill>
        <p:spPr>
          <a:xfrm>
            <a:off x="3183700" y="1205926"/>
            <a:ext cx="2804049" cy="1937325"/>
          </a:xfrm>
          <a:prstGeom prst="rect">
            <a:avLst/>
          </a:prstGeom>
          <a:noFill/>
          <a:ln>
            <a:noFill/>
          </a:ln>
        </p:spPr>
      </p:pic>
      <p:pic>
        <p:nvPicPr>
          <p:cNvPr id="432" name="Google Shape;432;p17"/>
          <p:cNvPicPr preferRelativeResize="0"/>
          <p:nvPr/>
        </p:nvPicPr>
        <p:blipFill>
          <a:blip r:embed="rId4">
            <a:alphaModFix/>
          </a:blip>
          <a:stretch>
            <a:fillRect/>
          </a:stretch>
        </p:blipFill>
        <p:spPr>
          <a:xfrm>
            <a:off x="3183700" y="3143250"/>
            <a:ext cx="4115926" cy="1795875"/>
          </a:xfrm>
          <a:prstGeom prst="rect">
            <a:avLst/>
          </a:prstGeom>
          <a:noFill/>
          <a:ln>
            <a:noFill/>
          </a:ln>
        </p:spPr>
      </p:pic>
      <p:sp>
        <p:nvSpPr>
          <p:cNvPr id="433" name="Google Shape;433;p17"/>
          <p:cNvSpPr txBox="1"/>
          <p:nvPr/>
        </p:nvSpPr>
        <p:spPr>
          <a:xfrm>
            <a:off x="376725" y="7876425"/>
            <a:ext cx="2411700" cy="136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latin typeface="Google Sans"/>
                <a:ea typeface="Google Sans"/>
                <a:cs typeface="Google Sans"/>
                <a:sym typeface="Google Sans"/>
              </a:rPr>
              <a:t>Driving vs Activity Days</a:t>
            </a:r>
            <a:r>
              <a:rPr lang="en" sz="1000">
                <a:solidFill>
                  <a:schemeClr val="dk2"/>
                </a:solidFill>
                <a:latin typeface="Google Sans"/>
                <a:ea typeface="Google Sans"/>
                <a:cs typeface="Google Sans"/>
                <a:sym typeface="Google Sans"/>
              </a:rPr>
              <a:t>: The number of activity days exceeded the number of driving days. This can be explained by the fact that sometimes people may open the app without booking a ride, or may engage with the app for other reasons other than to find a ride.</a:t>
            </a:r>
            <a:endParaRPr sz="1000">
              <a:solidFill>
                <a:schemeClr val="dk2"/>
              </a:solidFill>
              <a:latin typeface="Google Sans"/>
              <a:ea typeface="Google Sans"/>
              <a:cs typeface="Google Sans"/>
              <a:sym typeface="Google Sans"/>
            </a:endParaRPr>
          </a:p>
        </p:txBody>
      </p:sp>
      <p:sp>
        <p:nvSpPr>
          <p:cNvPr id="434" name="Google Shape;434;p17"/>
          <p:cNvSpPr txBox="1"/>
          <p:nvPr/>
        </p:nvSpPr>
        <p:spPr>
          <a:xfrm>
            <a:off x="207825" y="1437400"/>
            <a:ext cx="2632500" cy="14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Google Sans"/>
                <a:ea typeface="Google Sans"/>
                <a:cs typeface="Google Sans"/>
                <a:sym typeface="Google Sans"/>
              </a:rPr>
              <a:t>Waze has experienced user churn, with some users uninstalling the app over time. To better understand the factors associated with churn and support future machine learning efforts, we conducted an exploratory data analysis to identify key trends and prepare the data for further analysis.</a:t>
            </a:r>
            <a:endParaRPr sz="1100">
              <a:solidFill>
                <a:schemeClr val="dk2"/>
              </a:solidFill>
              <a:latin typeface="Google Sans"/>
              <a:ea typeface="Google Sans"/>
              <a:cs typeface="Google Sans"/>
              <a:sym typeface="Google Sans"/>
            </a:endParaRPr>
          </a:p>
        </p:txBody>
      </p:sp>
      <p:sp>
        <p:nvSpPr>
          <p:cNvPr id="435" name="Google Shape;435;p17"/>
          <p:cNvSpPr txBox="1"/>
          <p:nvPr/>
        </p:nvSpPr>
        <p:spPr>
          <a:xfrm>
            <a:off x="164625" y="3192825"/>
            <a:ext cx="2718900" cy="20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Google Sans"/>
                <a:ea typeface="Google Sans"/>
                <a:cs typeface="Google Sans"/>
                <a:sym typeface="Google Sans"/>
              </a:rPr>
              <a:t>Our objective is to identify factors that contribute to user churn and uncover opportunities to improve user retention. To support this goal, we conducted an exploratory data analysis (EDA) to better understand user behavior, engagement patterns, and key characteristics associated with churn. The insights gained can help inform strategies at reducing churn and increasing long-term user-retention rates.</a:t>
            </a:r>
            <a:endParaRPr sz="1100">
              <a:solidFill>
                <a:schemeClr val="dk2"/>
              </a:solidFill>
              <a:latin typeface="Google Sans"/>
              <a:ea typeface="Google Sans"/>
              <a:cs typeface="Google Sans"/>
              <a:sym typeface="Google Sans"/>
            </a:endParaRPr>
          </a:p>
          <a:p>
            <a:pPr indent="0" lvl="0" marL="0" rtl="0" algn="l">
              <a:spcBef>
                <a:spcPts val="0"/>
              </a:spcBef>
              <a:spcAft>
                <a:spcPts val="0"/>
              </a:spcAft>
              <a:buNone/>
            </a:pPr>
            <a:r>
              <a:t/>
            </a:r>
            <a:endParaRPr sz="1300">
              <a:solidFill>
                <a:schemeClr val="dk2"/>
              </a:solidFill>
              <a:latin typeface="Google Sans"/>
              <a:ea typeface="Google Sans"/>
              <a:cs typeface="Google Sans"/>
              <a:sym typeface="Google Sans"/>
            </a:endParaRPr>
          </a:p>
        </p:txBody>
      </p:sp>
      <p:pic>
        <p:nvPicPr>
          <p:cNvPr id="436" name="Google Shape;436;p17"/>
          <p:cNvPicPr preferRelativeResize="0"/>
          <p:nvPr/>
        </p:nvPicPr>
        <p:blipFill>
          <a:blip r:embed="rId5">
            <a:alphaModFix/>
          </a:blip>
          <a:stretch>
            <a:fillRect/>
          </a:stretch>
        </p:blipFill>
        <p:spPr>
          <a:xfrm>
            <a:off x="3139625" y="5576475"/>
            <a:ext cx="2632499" cy="1769318"/>
          </a:xfrm>
          <a:prstGeom prst="rect">
            <a:avLst/>
          </a:prstGeom>
          <a:noFill/>
          <a:ln>
            <a:noFill/>
          </a:ln>
        </p:spPr>
      </p:pic>
      <p:sp>
        <p:nvSpPr>
          <p:cNvPr id="437" name="Google Shape;437;p17"/>
          <p:cNvSpPr txBox="1"/>
          <p:nvPr/>
        </p:nvSpPr>
        <p:spPr>
          <a:xfrm>
            <a:off x="5948775" y="5481225"/>
            <a:ext cx="1194900" cy="166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100">
                <a:solidFill>
                  <a:schemeClr val="dk1"/>
                </a:solidFill>
                <a:latin typeface="Lato"/>
                <a:ea typeface="Lato"/>
                <a:cs typeface="Lato"/>
                <a:sym typeface="Lato"/>
              </a:rPr>
              <a:t>Proportion Of Churned vs Retained Users by Km per driving day:</a:t>
            </a:r>
            <a:r>
              <a:rPr i="1" lang="en" sz="1100">
                <a:solidFill>
                  <a:schemeClr val="dk1"/>
                </a:solidFill>
                <a:latin typeface="Lato"/>
                <a:ea typeface="Lato"/>
                <a:cs typeface="Lato"/>
                <a:sym typeface="Lato"/>
              </a:rPr>
              <a:t> Churn rate tended to increase as the mean daily distance driven increased</a:t>
            </a:r>
            <a:endParaRPr i="1" sz="1100">
              <a:solidFill>
                <a:schemeClr val="dk1"/>
              </a:solidFill>
              <a:latin typeface="Lato"/>
              <a:ea typeface="Lato"/>
              <a:cs typeface="Lato"/>
              <a:sym typeface="Lato"/>
            </a:endParaRPr>
          </a:p>
        </p:txBody>
      </p:sp>
      <p:sp>
        <p:nvSpPr>
          <p:cNvPr id="438" name="Google Shape;438;p17"/>
          <p:cNvSpPr txBox="1"/>
          <p:nvPr/>
        </p:nvSpPr>
        <p:spPr>
          <a:xfrm>
            <a:off x="2926838" y="7876425"/>
            <a:ext cx="1723200" cy="136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latin typeface="Google Sans"/>
                <a:ea typeface="Google Sans"/>
                <a:cs typeface="Google Sans"/>
                <a:sym typeface="Google Sans"/>
              </a:rPr>
              <a:t>Skewed Data Distribution</a:t>
            </a:r>
            <a:r>
              <a:rPr lang="en" sz="1000">
                <a:solidFill>
                  <a:schemeClr val="dk2"/>
                </a:solidFill>
                <a:latin typeface="Google Sans"/>
                <a:ea typeface="Google Sans"/>
                <a:cs typeface="Google Sans"/>
                <a:sym typeface="Google Sans"/>
              </a:rPr>
              <a:t>: The number of sessions and drives during the month formed a right-skewed pattern. The median number of drives was only 48, but a select few people had gone over 400 drives.</a:t>
            </a:r>
            <a:endParaRPr sz="1000">
              <a:solidFill>
                <a:schemeClr val="dk2"/>
              </a:solidFill>
              <a:latin typeface="Google Sans"/>
              <a:ea typeface="Google Sans"/>
              <a:cs typeface="Google Sans"/>
              <a:sym typeface="Google Sans"/>
            </a:endParaRPr>
          </a:p>
        </p:txBody>
      </p:sp>
      <p:sp>
        <p:nvSpPr>
          <p:cNvPr id="439" name="Google Shape;439;p17"/>
          <p:cNvSpPr txBox="1"/>
          <p:nvPr/>
        </p:nvSpPr>
        <p:spPr>
          <a:xfrm>
            <a:off x="4788475" y="7876425"/>
            <a:ext cx="2121300" cy="136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latin typeface="Google Sans"/>
                <a:ea typeface="Google Sans"/>
                <a:cs typeface="Google Sans"/>
                <a:sym typeface="Google Sans"/>
              </a:rPr>
              <a:t>Churn rate</a:t>
            </a:r>
            <a:r>
              <a:rPr lang="en" sz="1000">
                <a:solidFill>
                  <a:schemeClr val="dk2"/>
                </a:solidFill>
                <a:latin typeface="Google Sans"/>
                <a:ea typeface="Google Sans"/>
                <a:cs typeface="Google Sans"/>
                <a:sym typeface="Google Sans"/>
              </a:rPr>
              <a:t>: Churn rates tended to increase as the mean daily distance increased. Some potential reasons for this may include the fact that heavier users may have higher expectations, or longer distance drivers may be occasional travelers.</a:t>
            </a:r>
            <a:endParaRPr sz="1000">
              <a:solidFill>
                <a:schemeClr val="dk2"/>
              </a:solidFill>
              <a:latin typeface="Google Sans"/>
              <a:ea typeface="Google Sans"/>
              <a:cs typeface="Google Sans"/>
              <a:sym typeface="Google Sans"/>
            </a:endParaRPr>
          </a:p>
        </p:txBody>
      </p:sp>
      <p:sp>
        <p:nvSpPr>
          <p:cNvPr id="440" name="Google Shape;440;p17"/>
          <p:cNvSpPr txBox="1"/>
          <p:nvPr/>
        </p:nvSpPr>
        <p:spPr>
          <a:xfrm>
            <a:off x="277100" y="5777153"/>
            <a:ext cx="2199300" cy="166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Google Sans"/>
                <a:ea typeface="Google Sans"/>
                <a:cs typeface="Google Sans"/>
                <a:sym typeface="Google Sans"/>
              </a:rPr>
              <a:t>The insights from the analysis provide a better understanding of user behavior and engagement patterns. These findings can help inform future retention strategies, guide feature improvements, and support the development of predictive models.</a:t>
            </a:r>
            <a:endParaRPr sz="1100">
              <a:solidFill>
                <a:schemeClr val="dk2"/>
              </a:solidFill>
              <a:latin typeface="Google Sans"/>
              <a:ea typeface="Google Sans"/>
              <a:cs typeface="Google Sans"/>
              <a:sym typeface="Google Sans"/>
            </a:endParaRPr>
          </a:p>
        </p:txBody>
      </p:sp>
      <p:sp>
        <p:nvSpPr>
          <p:cNvPr id="441" name="Google Shape;441;p17"/>
          <p:cNvSpPr txBox="1"/>
          <p:nvPr/>
        </p:nvSpPr>
        <p:spPr>
          <a:xfrm>
            <a:off x="398325" y="9308525"/>
            <a:ext cx="6286500" cy="5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Google Sans"/>
                <a:ea typeface="Google Sans"/>
                <a:cs typeface="Google Sans"/>
                <a:sym typeface="Google Sans"/>
              </a:rPr>
              <a:t>Our exploratory data analysis revealed several key considerations, including the right-skewed distribution of the data and a relationship between churn and mean daily distance driven. Further analysis of these patterns may provide valuable insights that Waze can use to improve user retention and reduce churn.</a:t>
            </a:r>
            <a:endParaRPr sz="1700">
              <a:solidFill>
                <a:schemeClr val="dk2"/>
              </a:solidFill>
              <a:latin typeface="Google Sans"/>
              <a:ea typeface="Google Sans"/>
              <a:cs typeface="Google Sans"/>
              <a:sym typeface="Google Sans"/>
            </a:endParaRPr>
          </a:p>
        </p:txBody>
      </p:sp>
      <p:pic>
        <p:nvPicPr>
          <p:cNvPr id="442" name="Google Shape;442;p17"/>
          <p:cNvPicPr preferRelativeResize="0"/>
          <p:nvPr/>
        </p:nvPicPr>
        <p:blipFill>
          <a:blip r:embed="rId6">
            <a:alphaModFix/>
          </a:blip>
          <a:stretch>
            <a:fillRect/>
          </a:stretch>
        </p:blipFill>
        <p:spPr>
          <a:xfrm>
            <a:off x="6997175" y="131675"/>
            <a:ext cx="665725" cy="665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grpSp>
        <p:nvGrpSpPr>
          <p:cNvPr id="447" name="Google Shape;447;p18"/>
          <p:cNvGrpSpPr/>
          <p:nvPr/>
        </p:nvGrpSpPr>
        <p:grpSpPr>
          <a:xfrm>
            <a:off x="188700" y="433900"/>
            <a:ext cx="5190000" cy="1002525"/>
            <a:chOff x="188700" y="433900"/>
            <a:chExt cx="5190000" cy="1002525"/>
          </a:xfrm>
        </p:grpSpPr>
        <p:sp>
          <p:nvSpPr>
            <p:cNvPr id="448" name="Google Shape;448;p18"/>
            <p:cNvSpPr txBox="1"/>
            <p:nvPr/>
          </p:nvSpPr>
          <p:spPr>
            <a:xfrm>
              <a:off x="188700" y="433900"/>
              <a:ext cx="51900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en" sz="1600">
                  <a:latin typeface="Google Sans SemiBold"/>
                  <a:ea typeface="Google Sans SemiBold"/>
                  <a:cs typeface="Google Sans SemiBold"/>
                  <a:sym typeface="Google Sans SemiBold"/>
                </a:rPr>
                <a:t>User Churn Project - Two-Sample Hypothesis Test Results (Apple vs. Android)</a:t>
              </a:r>
              <a:endParaRPr sz="1900">
                <a:solidFill>
                  <a:srgbClr val="000000"/>
                </a:solidFill>
                <a:latin typeface="Google Sans SemiBold"/>
                <a:ea typeface="Google Sans SemiBold"/>
                <a:cs typeface="Google Sans SemiBold"/>
                <a:sym typeface="Google Sans SemiBold"/>
              </a:endParaRPr>
            </a:p>
          </p:txBody>
        </p:sp>
        <p:sp>
          <p:nvSpPr>
            <p:cNvPr id="449" name="Google Shape;449;p18"/>
            <p:cNvSpPr txBox="1"/>
            <p:nvPr/>
          </p:nvSpPr>
          <p:spPr>
            <a:xfrm>
              <a:off x="188700" y="1036225"/>
              <a:ext cx="3516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a:latin typeface="Roboto"/>
                  <a:ea typeface="Roboto"/>
                  <a:cs typeface="Roboto"/>
                  <a:sym typeface="Roboto"/>
                </a:rPr>
                <a:t>Prepared for: Waze Leadership Team</a:t>
              </a:r>
              <a:endParaRPr>
                <a:solidFill>
                  <a:srgbClr val="000000"/>
                </a:solidFill>
                <a:latin typeface="Roboto"/>
                <a:ea typeface="Roboto"/>
                <a:cs typeface="Roboto"/>
                <a:sym typeface="Roboto"/>
              </a:endParaRPr>
            </a:p>
          </p:txBody>
        </p:sp>
      </p:grpSp>
      <p:sp>
        <p:nvSpPr>
          <p:cNvPr id="450" name="Google Shape;450;p18"/>
          <p:cNvSpPr txBox="1"/>
          <p:nvPr/>
        </p:nvSpPr>
        <p:spPr>
          <a:xfrm>
            <a:off x="2372975" y="1668750"/>
            <a:ext cx="5021700" cy="140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solidFill>
                  <a:schemeClr val="dk2"/>
                </a:solidFill>
                <a:latin typeface="Google Sans"/>
                <a:ea typeface="Google Sans"/>
                <a:cs typeface="Google Sans"/>
                <a:sym typeface="Google Sans"/>
              </a:rPr>
              <a:t>This analysis examined whether there is statistical significance between the average number of rides between iPhone and Android Users. We performed a 2-sample hypothesis to determine whether each device type is associated with differences in user engagement</a:t>
            </a:r>
            <a:endParaRPr sz="1300">
              <a:solidFill>
                <a:schemeClr val="dk2"/>
              </a:solidFill>
              <a:latin typeface="Google Sans"/>
              <a:ea typeface="Google Sans"/>
              <a:cs typeface="Google Sans"/>
              <a:sym typeface="Google Sans"/>
            </a:endParaRPr>
          </a:p>
          <a:p>
            <a:pPr indent="0" lvl="0" marL="0" rtl="0" algn="l">
              <a:spcBef>
                <a:spcPts val="0"/>
              </a:spcBef>
              <a:spcAft>
                <a:spcPts val="0"/>
              </a:spcAft>
              <a:buNone/>
            </a:pPr>
            <a:r>
              <a:t/>
            </a:r>
            <a:endParaRPr sz="1800">
              <a:solidFill>
                <a:schemeClr val="dk2"/>
              </a:solidFill>
              <a:latin typeface="Google Sans"/>
              <a:ea typeface="Google Sans"/>
              <a:cs typeface="Google Sans"/>
              <a:sym typeface="Google Sans"/>
            </a:endParaRPr>
          </a:p>
        </p:txBody>
      </p:sp>
      <p:sp>
        <p:nvSpPr>
          <p:cNvPr id="451" name="Google Shape;451;p18"/>
          <p:cNvSpPr txBox="1"/>
          <p:nvPr/>
        </p:nvSpPr>
        <p:spPr>
          <a:xfrm>
            <a:off x="2427900" y="3138100"/>
            <a:ext cx="5021700" cy="12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Google Sans"/>
                <a:ea typeface="Google Sans"/>
                <a:cs typeface="Google Sans"/>
                <a:sym typeface="Google Sans"/>
              </a:rPr>
              <a:t>The leadership is requesting an analysis to determine whether having an iPhone vs having an Android influences user activity. This can help Waze decide how to develop their product for each group of people. A two-sample t-test was performed to compare the mean number of rides between iPhone and Android users. The statistical significance was evaluated at an alpha level of 0.05.</a:t>
            </a:r>
            <a:endParaRPr sz="1200">
              <a:solidFill>
                <a:schemeClr val="dk2"/>
              </a:solidFill>
              <a:latin typeface="Google Sans"/>
              <a:ea typeface="Google Sans"/>
              <a:cs typeface="Google Sans"/>
              <a:sym typeface="Google Sans"/>
            </a:endParaRPr>
          </a:p>
          <a:p>
            <a:pPr indent="0" lvl="0" marL="0" rtl="0" algn="l">
              <a:spcBef>
                <a:spcPts val="0"/>
              </a:spcBef>
              <a:spcAft>
                <a:spcPts val="0"/>
              </a:spcAft>
              <a:buClr>
                <a:schemeClr val="dk1"/>
              </a:buClr>
              <a:buSzPts val="1100"/>
              <a:buFont typeface="Arial"/>
              <a:buNone/>
            </a:pPr>
            <a:r>
              <a:t/>
            </a:r>
            <a:endParaRPr sz="1200">
              <a:solidFill>
                <a:schemeClr val="dk2"/>
              </a:solidFill>
              <a:latin typeface="Google Sans"/>
              <a:ea typeface="Google Sans"/>
              <a:cs typeface="Google Sans"/>
              <a:sym typeface="Google Sans"/>
            </a:endParaRPr>
          </a:p>
        </p:txBody>
      </p:sp>
      <p:sp>
        <p:nvSpPr>
          <p:cNvPr id="452" name="Google Shape;452;p18"/>
          <p:cNvSpPr txBox="1"/>
          <p:nvPr/>
        </p:nvSpPr>
        <p:spPr>
          <a:xfrm>
            <a:off x="2213175" y="4707125"/>
            <a:ext cx="24609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Google Sans"/>
                <a:ea typeface="Google Sans"/>
                <a:cs typeface="Google Sans"/>
                <a:sym typeface="Google Sans"/>
              </a:rPr>
              <a:t>We obtained a </a:t>
            </a:r>
            <a:r>
              <a:rPr b="1" lang="en" sz="1600">
                <a:solidFill>
                  <a:schemeClr val="dk2"/>
                </a:solidFill>
                <a:latin typeface="Google Sans"/>
                <a:ea typeface="Google Sans"/>
                <a:cs typeface="Google Sans"/>
                <a:sym typeface="Google Sans"/>
              </a:rPr>
              <a:t>t-statistic of 1.46</a:t>
            </a:r>
            <a:r>
              <a:rPr lang="en" sz="1600">
                <a:solidFill>
                  <a:schemeClr val="dk2"/>
                </a:solidFill>
                <a:latin typeface="Google Sans"/>
                <a:ea typeface="Google Sans"/>
                <a:cs typeface="Google Sans"/>
                <a:sym typeface="Google Sans"/>
              </a:rPr>
              <a:t> and a </a:t>
            </a:r>
            <a:r>
              <a:rPr b="1" lang="en" sz="1600">
                <a:solidFill>
                  <a:schemeClr val="dk2"/>
                </a:solidFill>
                <a:latin typeface="Google Sans"/>
                <a:ea typeface="Google Sans"/>
                <a:cs typeface="Google Sans"/>
                <a:sym typeface="Google Sans"/>
              </a:rPr>
              <a:t>p-value of 0.143</a:t>
            </a:r>
            <a:r>
              <a:rPr lang="en" sz="1600">
                <a:solidFill>
                  <a:schemeClr val="dk2"/>
                </a:solidFill>
                <a:latin typeface="Google Sans"/>
                <a:ea typeface="Google Sans"/>
                <a:cs typeface="Google Sans"/>
                <a:sym typeface="Google Sans"/>
              </a:rPr>
              <a:t>, which is greater than 0.05. Since </a:t>
            </a:r>
            <a:r>
              <a:rPr b="1" lang="en" sz="1600">
                <a:solidFill>
                  <a:schemeClr val="dk2"/>
                </a:solidFill>
                <a:latin typeface="Google Sans"/>
                <a:ea typeface="Google Sans"/>
                <a:cs typeface="Google Sans"/>
                <a:sym typeface="Google Sans"/>
              </a:rPr>
              <a:t>p = 0.143 &gt; 0.05 </a:t>
            </a:r>
            <a:r>
              <a:rPr lang="en" sz="1600">
                <a:solidFill>
                  <a:schemeClr val="dk2"/>
                </a:solidFill>
                <a:latin typeface="Google Sans"/>
                <a:ea typeface="Google Sans"/>
                <a:cs typeface="Google Sans"/>
                <a:sym typeface="Google Sans"/>
              </a:rPr>
              <a:t>we cannot conclude that iphone users go on more (or less) drives than Android users. </a:t>
            </a:r>
            <a:endParaRPr sz="1600">
              <a:solidFill>
                <a:schemeClr val="dk2"/>
              </a:solidFill>
              <a:latin typeface="Google Sans"/>
              <a:ea typeface="Google Sans"/>
              <a:cs typeface="Google Sans"/>
              <a:sym typeface="Google Sans"/>
            </a:endParaRPr>
          </a:p>
        </p:txBody>
      </p:sp>
      <p:sp>
        <p:nvSpPr>
          <p:cNvPr id="453" name="Google Shape;453;p18"/>
          <p:cNvSpPr txBox="1"/>
          <p:nvPr/>
        </p:nvSpPr>
        <p:spPr>
          <a:xfrm>
            <a:off x="4674075" y="4707125"/>
            <a:ext cx="2775600" cy="30630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Font typeface="Google Sans"/>
              <a:buChar char="●"/>
            </a:pPr>
            <a:r>
              <a:rPr lang="en" sz="1600">
                <a:solidFill>
                  <a:schemeClr val="dk2"/>
                </a:solidFill>
                <a:latin typeface="Google Sans"/>
                <a:ea typeface="Google Sans"/>
                <a:cs typeface="Google Sans"/>
                <a:sym typeface="Google Sans"/>
              </a:rPr>
              <a:t>Based on calculations, the iphone users went on more drives on average than android</a:t>
            </a:r>
            <a:endParaRPr sz="1600">
              <a:solidFill>
                <a:schemeClr val="dk2"/>
              </a:solidFill>
              <a:latin typeface="Google Sans"/>
              <a:ea typeface="Google Sans"/>
              <a:cs typeface="Google Sans"/>
              <a:sym typeface="Google Sans"/>
            </a:endParaRPr>
          </a:p>
          <a:p>
            <a:pPr indent="-330200" lvl="0" marL="457200" rtl="0" algn="l">
              <a:spcBef>
                <a:spcPts val="0"/>
              </a:spcBef>
              <a:spcAft>
                <a:spcPts val="0"/>
              </a:spcAft>
              <a:buClr>
                <a:schemeClr val="dk2"/>
              </a:buClr>
              <a:buSzPts val="1600"/>
              <a:buFont typeface="Google Sans"/>
              <a:buChar char="●"/>
            </a:pPr>
            <a:r>
              <a:rPr lang="en" sz="1600">
                <a:solidFill>
                  <a:schemeClr val="dk2"/>
                </a:solidFill>
                <a:latin typeface="Google Sans"/>
                <a:ea typeface="Google Sans"/>
                <a:cs typeface="Google Sans"/>
                <a:sym typeface="Google Sans"/>
              </a:rPr>
              <a:t>The t-test concluded there is not a statistical significance between number of drives of iphone and android users</a:t>
            </a:r>
            <a:endParaRPr sz="1600">
              <a:solidFill>
                <a:schemeClr val="dk2"/>
              </a:solidFill>
              <a:latin typeface="Google Sans"/>
              <a:ea typeface="Google Sans"/>
              <a:cs typeface="Google Sans"/>
              <a:sym typeface="Google Sans"/>
            </a:endParaRPr>
          </a:p>
        </p:txBody>
      </p:sp>
      <p:sp>
        <p:nvSpPr>
          <p:cNvPr id="454" name="Google Shape;454;p18"/>
          <p:cNvSpPr txBox="1"/>
          <p:nvPr/>
        </p:nvSpPr>
        <p:spPr>
          <a:xfrm>
            <a:off x="2081050" y="8100450"/>
            <a:ext cx="4393200" cy="1139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Google Sans"/>
              <a:buChar char="●"/>
            </a:pPr>
            <a:r>
              <a:rPr lang="en">
                <a:solidFill>
                  <a:schemeClr val="dk2"/>
                </a:solidFill>
                <a:latin typeface="Google Sans"/>
                <a:ea typeface="Google Sans"/>
                <a:cs typeface="Google Sans"/>
                <a:sym typeface="Google Sans"/>
              </a:rPr>
              <a:t>Investigate other factors that may have a stronger impact on user engagement and churn, such as activity days, driving frequency</a:t>
            </a:r>
            <a:endParaRPr>
              <a:solidFill>
                <a:schemeClr val="dk2"/>
              </a:solidFill>
              <a:latin typeface="Google Sans"/>
              <a:ea typeface="Google Sans"/>
              <a:cs typeface="Google Sans"/>
              <a:sym typeface="Google Sans"/>
            </a:endParaRPr>
          </a:p>
          <a:p>
            <a:pPr indent="-317500" lvl="0" marL="457200" rtl="0" algn="l">
              <a:spcBef>
                <a:spcPts val="0"/>
              </a:spcBef>
              <a:spcAft>
                <a:spcPts val="0"/>
              </a:spcAft>
              <a:buClr>
                <a:schemeClr val="dk2"/>
              </a:buClr>
              <a:buSzPts val="1400"/>
              <a:buFont typeface="Google Sans"/>
              <a:buChar char="●"/>
            </a:pPr>
            <a:r>
              <a:rPr lang="en">
                <a:solidFill>
                  <a:schemeClr val="dk2"/>
                </a:solidFill>
                <a:latin typeface="Google Sans"/>
                <a:ea typeface="Google Sans"/>
                <a:cs typeface="Google Sans"/>
                <a:sym typeface="Google Sans"/>
              </a:rPr>
              <a:t>Continue developing the churn prediction model using behavioral metrics</a:t>
            </a:r>
            <a:endParaRPr>
              <a:solidFill>
                <a:schemeClr val="dk2"/>
              </a:solidFill>
              <a:latin typeface="Google Sans"/>
              <a:ea typeface="Google Sans"/>
              <a:cs typeface="Google Sans"/>
              <a:sym typeface="Google Sans"/>
            </a:endParaRPr>
          </a:p>
          <a:p>
            <a:pPr indent="-317500" lvl="0" marL="457200" rtl="0" algn="l">
              <a:spcBef>
                <a:spcPts val="0"/>
              </a:spcBef>
              <a:spcAft>
                <a:spcPts val="0"/>
              </a:spcAft>
              <a:buClr>
                <a:schemeClr val="dk2"/>
              </a:buClr>
              <a:buSzPts val="1400"/>
              <a:buFont typeface="Google Sans"/>
              <a:buChar char="●"/>
            </a:pPr>
            <a:r>
              <a:rPr lang="en">
                <a:solidFill>
                  <a:schemeClr val="dk2"/>
                </a:solidFill>
                <a:latin typeface="Google Sans"/>
                <a:ea typeface="Google Sans"/>
                <a:cs typeface="Google Sans"/>
                <a:sym typeface="Google Sans"/>
              </a:rPr>
              <a:t>Monitor iPhone and Android platforms to ensure consistent performance</a:t>
            </a:r>
            <a:endParaRPr>
              <a:solidFill>
                <a:schemeClr val="dk2"/>
              </a:solidFill>
              <a:latin typeface="Google Sans"/>
              <a:ea typeface="Google Sans"/>
              <a:cs typeface="Google Sans"/>
              <a:sym typeface="Google Sans"/>
            </a:endParaRPr>
          </a:p>
        </p:txBody>
      </p:sp>
      <p:pic>
        <p:nvPicPr>
          <p:cNvPr id="455" name="Google Shape;455;p18"/>
          <p:cNvPicPr preferRelativeResize="0"/>
          <p:nvPr/>
        </p:nvPicPr>
        <p:blipFill>
          <a:blip r:embed="rId3">
            <a:alphaModFix/>
          </a:blip>
          <a:stretch>
            <a:fillRect/>
          </a:stretch>
        </p:blipFill>
        <p:spPr>
          <a:xfrm>
            <a:off x="6474250" y="217975"/>
            <a:ext cx="1002525" cy="1002525"/>
          </a:xfrm>
          <a:prstGeom prst="rect">
            <a:avLst/>
          </a:prstGeom>
          <a:noFill/>
          <a:ln>
            <a:noFill/>
          </a:ln>
        </p:spPr>
      </p:pic>
      <p:pic>
        <p:nvPicPr>
          <p:cNvPr id="456" name="Google Shape;456;p18"/>
          <p:cNvPicPr preferRelativeResize="0"/>
          <p:nvPr/>
        </p:nvPicPr>
        <p:blipFill>
          <a:blip r:embed="rId4">
            <a:alphaModFix/>
          </a:blip>
          <a:stretch>
            <a:fillRect/>
          </a:stretch>
        </p:blipFill>
        <p:spPr>
          <a:xfrm>
            <a:off x="188700" y="5569250"/>
            <a:ext cx="2024475" cy="155065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grpSp>
        <p:nvGrpSpPr>
          <p:cNvPr id="461" name="Google Shape;461;p19"/>
          <p:cNvGrpSpPr/>
          <p:nvPr/>
        </p:nvGrpSpPr>
        <p:grpSpPr>
          <a:xfrm>
            <a:off x="404725" y="508525"/>
            <a:ext cx="5190000" cy="771300"/>
            <a:chOff x="188700" y="665125"/>
            <a:chExt cx="5190000" cy="771300"/>
          </a:xfrm>
        </p:grpSpPr>
        <p:sp>
          <p:nvSpPr>
            <p:cNvPr id="462" name="Google Shape;462;p19"/>
            <p:cNvSpPr txBox="1"/>
            <p:nvPr/>
          </p:nvSpPr>
          <p:spPr>
            <a:xfrm>
              <a:off x="188700" y="665125"/>
              <a:ext cx="51900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en" sz="1600">
                  <a:latin typeface="Google Sans SemiBold"/>
                  <a:ea typeface="Google Sans SemiBold"/>
                  <a:cs typeface="Google Sans SemiBold"/>
                  <a:sym typeface="Google Sans SemiBold"/>
                </a:rPr>
                <a:t>User Churn Project | Regression Modeling Results</a:t>
              </a:r>
              <a:endParaRPr sz="1900">
                <a:solidFill>
                  <a:srgbClr val="000000"/>
                </a:solidFill>
                <a:latin typeface="Google Sans SemiBold"/>
                <a:ea typeface="Google Sans SemiBold"/>
                <a:cs typeface="Google Sans SemiBold"/>
                <a:sym typeface="Google Sans SemiBold"/>
              </a:endParaRPr>
            </a:p>
          </p:txBody>
        </p:sp>
        <p:sp>
          <p:nvSpPr>
            <p:cNvPr id="463" name="Google Shape;463;p19"/>
            <p:cNvSpPr txBox="1"/>
            <p:nvPr/>
          </p:nvSpPr>
          <p:spPr>
            <a:xfrm>
              <a:off x="188700" y="1036225"/>
              <a:ext cx="3516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a:latin typeface="Roboto"/>
                  <a:ea typeface="Roboto"/>
                  <a:cs typeface="Roboto"/>
                  <a:sym typeface="Roboto"/>
                </a:rPr>
                <a:t>Prepared for: Waze Leadership Team</a:t>
              </a:r>
              <a:endParaRPr>
                <a:solidFill>
                  <a:srgbClr val="000000"/>
                </a:solidFill>
                <a:latin typeface="Roboto"/>
                <a:ea typeface="Roboto"/>
                <a:cs typeface="Roboto"/>
                <a:sym typeface="Roboto"/>
              </a:endParaRPr>
            </a:p>
          </p:txBody>
        </p:sp>
      </p:grpSp>
      <p:sp>
        <p:nvSpPr>
          <p:cNvPr id="464" name="Google Shape;464;p19"/>
          <p:cNvSpPr txBox="1"/>
          <p:nvPr/>
        </p:nvSpPr>
        <p:spPr>
          <a:xfrm>
            <a:off x="535825" y="2036175"/>
            <a:ext cx="6368700" cy="99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Google Sans"/>
                <a:ea typeface="Google Sans"/>
                <a:cs typeface="Google Sans"/>
                <a:sym typeface="Google Sans"/>
              </a:rPr>
              <a:t>In this section, we developed and evaluated a logistic regression model to predict user churn based on user activity and engagement metrics. We analyzed the model’s performance using classification metrics and examined importance of features to identify factors that were most strongly associated with churn. The results provided insights into key churn drivers, highlighting the model’s predictive strengths and limitations and helped identify opportunities for improving future churn prediction efforts.</a:t>
            </a:r>
            <a:endParaRPr sz="1100">
              <a:solidFill>
                <a:schemeClr val="dk1"/>
              </a:solidFill>
              <a:latin typeface="Google Sans"/>
              <a:ea typeface="Google Sans"/>
              <a:cs typeface="Google Sans"/>
              <a:sym typeface="Google Sans"/>
            </a:endParaRPr>
          </a:p>
        </p:txBody>
      </p:sp>
      <p:sp>
        <p:nvSpPr>
          <p:cNvPr id="465" name="Google Shape;465;p19"/>
          <p:cNvSpPr txBox="1"/>
          <p:nvPr/>
        </p:nvSpPr>
        <p:spPr>
          <a:xfrm>
            <a:off x="512000" y="3831775"/>
            <a:ext cx="3035400" cy="249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Google Sans"/>
              <a:ea typeface="Google Sans"/>
              <a:cs typeface="Google Sans"/>
              <a:sym typeface="Google Sans"/>
            </a:endParaRPr>
          </a:p>
        </p:txBody>
      </p:sp>
      <p:sp>
        <p:nvSpPr>
          <p:cNvPr id="466" name="Google Shape;466;p19"/>
          <p:cNvSpPr txBox="1"/>
          <p:nvPr/>
        </p:nvSpPr>
        <p:spPr>
          <a:xfrm>
            <a:off x="512000" y="3787625"/>
            <a:ext cx="3035400" cy="249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50">
                <a:solidFill>
                  <a:schemeClr val="dk1"/>
                </a:solidFill>
                <a:latin typeface="Google Sans"/>
                <a:ea typeface="Google Sans"/>
                <a:cs typeface="Google Sans"/>
                <a:sym typeface="Google Sans"/>
              </a:rPr>
              <a:t>Target Goal</a:t>
            </a:r>
            <a:endParaRPr sz="950">
              <a:solidFill>
                <a:schemeClr val="dk1"/>
              </a:solidFill>
              <a:latin typeface="Google Sans"/>
              <a:ea typeface="Google Sans"/>
              <a:cs typeface="Google Sans"/>
              <a:sym typeface="Google Sans"/>
            </a:endParaRPr>
          </a:p>
          <a:p>
            <a:pPr indent="-174625" lvl="0" marL="342900" rtl="0" algn="l">
              <a:spcBef>
                <a:spcPts val="0"/>
              </a:spcBef>
              <a:spcAft>
                <a:spcPts val="0"/>
              </a:spcAft>
              <a:buClr>
                <a:schemeClr val="dk1"/>
              </a:buClr>
              <a:buSzPts val="950"/>
              <a:buFont typeface="Google Sans"/>
              <a:buChar char="●"/>
            </a:pPr>
            <a:r>
              <a:rPr lang="en" sz="950">
                <a:solidFill>
                  <a:schemeClr val="dk1"/>
                </a:solidFill>
                <a:latin typeface="Google Sans"/>
                <a:ea typeface="Google Sans"/>
                <a:cs typeface="Google Sans"/>
                <a:sym typeface="Google Sans"/>
              </a:rPr>
              <a:t>Developed predictive model to identify which users are likely to churn</a:t>
            </a:r>
            <a:endParaRPr sz="950">
              <a:solidFill>
                <a:schemeClr val="dk1"/>
              </a:solidFill>
              <a:latin typeface="Google Sans"/>
              <a:ea typeface="Google Sans"/>
              <a:cs typeface="Google Sans"/>
              <a:sym typeface="Google Sans"/>
            </a:endParaRPr>
          </a:p>
          <a:p>
            <a:pPr indent="0" lvl="0" marL="0" rtl="0" algn="l">
              <a:spcBef>
                <a:spcPts val="0"/>
              </a:spcBef>
              <a:spcAft>
                <a:spcPts val="0"/>
              </a:spcAft>
              <a:buNone/>
            </a:pPr>
            <a:r>
              <a:rPr lang="en" sz="950">
                <a:solidFill>
                  <a:schemeClr val="dk1"/>
                </a:solidFill>
                <a:latin typeface="Google Sans"/>
                <a:ea typeface="Google Sans"/>
                <a:cs typeface="Google Sans"/>
                <a:sym typeface="Google Sans"/>
              </a:rPr>
              <a:t>Methods</a:t>
            </a:r>
            <a:endParaRPr sz="950">
              <a:solidFill>
                <a:schemeClr val="dk1"/>
              </a:solidFill>
              <a:latin typeface="Google Sans"/>
              <a:ea typeface="Google Sans"/>
              <a:cs typeface="Google Sans"/>
              <a:sym typeface="Google Sans"/>
            </a:endParaRPr>
          </a:p>
          <a:p>
            <a:pPr indent="-174625" lvl="0" marL="342900" rtl="0" algn="l">
              <a:spcBef>
                <a:spcPts val="0"/>
              </a:spcBef>
              <a:spcAft>
                <a:spcPts val="0"/>
              </a:spcAft>
              <a:buClr>
                <a:schemeClr val="dk1"/>
              </a:buClr>
              <a:buSzPts val="950"/>
              <a:buFont typeface="Google Sans"/>
              <a:buChar char="●"/>
            </a:pPr>
            <a:r>
              <a:rPr lang="en" sz="950">
                <a:solidFill>
                  <a:schemeClr val="dk1"/>
                </a:solidFill>
                <a:latin typeface="Google Sans"/>
                <a:ea typeface="Google Sans"/>
                <a:cs typeface="Google Sans"/>
                <a:sym typeface="Google Sans"/>
              </a:rPr>
              <a:t>Prepared and engineered features for churn prediction analysis</a:t>
            </a:r>
            <a:endParaRPr sz="950">
              <a:solidFill>
                <a:schemeClr val="dk1"/>
              </a:solidFill>
              <a:latin typeface="Google Sans"/>
              <a:ea typeface="Google Sans"/>
              <a:cs typeface="Google Sans"/>
              <a:sym typeface="Google Sans"/>
            </a:endParaRPr>
          </a:p>
          <a:p>
            <a:pPr indent="-174625" lvl="0" marL="342900" rtl="0" algn="l">
              <a:spcBef>
                <a:spcPts val="0"/>
              </a:spcBef>
              <a:spcAft>
                <a:spcPts val="0"/>
              </a:spcAft>
              <a:buClr>
                <a:schemeClr val="dk1"/>
              </a:buClr>
              <a:buSzPts val="950"/>
              <a:buFont typeface="Google Sans"/>
              <a:buChar char="●"/>
            </a:pPr>
            <a:r>
              <a:rPr lang="en" sz="950">
                <a:solidFill>
                  <a:schemeClr val="dk1"/>
                </a:solidFill>
                <a:latin typeface="Google Sans"/>
                <a:ea typeface="Google Sans"/>
                <a:cs typeface="Google Sans"/>
                <a:sym typeface="Google Sans"/>
              </a:rPr>
              <a:t>Built logistic regression model to estimate probability of user churn</a:t>
            </a:r>
            <a:endParaRPr sz="950">
              <a:solidFill>
                <a:schemeClr val="dk1"/>
              </a:solidFill>
              <a:latin typeface="Google Sans"/>
              <a:ea typeface="Google Sans"/>
              <a:cs typeface="Google Sans"/>
              <a:sym typeface="Google Sans"/>
            </a:endParaRPr>
          </a:p>
          <a:p>
            <a:pPr indent="-174625" lvl="0" marL="342900" rtl="0" algn="l">
              <a:spcBef>
                <a:spcPts val="0"/>
              </a:spcBef>
              <a:spcAft>
                <a:spcPts val="0"/>
              </a:spcAft>
              <a:buClr>
                <a:schemeClr val="dk1"/>
              </a:buClr>
              <a:buSzPts val="950"/>
              <a:buFont typeface="Google Sans"/>
              <a:buChar char="●"/>
            </a:pPr>
            <a:r>
              <a:rPr lang="en" sz="950">
                <a:solidFill>
                  <a:schemeClr val="dk1"/>
                </a:solidFill>
                <a:latin typeface="Google Sans"/>
                <a:ea typeface="Google Sans"/>
                <a:cs typeface="Google Sans"/>
                <a:sym typeface="Google Sans"/>
              </a:rPr>
              <a:t>Evaluated model performance using confusion matrix, precision, and recall</a:t>
            </a:r>
            <a:endParaRPr sz="950">
              <a:solidFill>
                <a:schemeClr val="dk1"/>
              </a:solidFill>
              <a:latin typeface="Google Sans"/>
              <a:ea typeface="Google Sans"/>
              <a:cs typeface="Google Sans"/>
              <a:sym typeface="Google Sans"/>
            </a:endParaRPr>
          </a:p>
          <a:p>
            <a:pPr indent="-174625" lvl="0" marL="342900" rtl="0" algn="l">
              <a:spcBef>
                <a:spcPts val="0"/>
              </a:spcBef>
              <a:spcAft>
                <a:spcPts val="0"/>
              </a:spcAft>
              <a:buClr>
                <a:schemeClr val="dk1"/>
              </a:buClr>
              <a:buSzPts val="950"/>
              <a:buFont typeface="Google Sans"/>
              <a:buChar char="●"/>
            </a:pPr>
            <a:r>
              <a:rPr lang="en" sz="950">
                <a:solidFill>
                  <a:schemeClr val="dk1"/>
                </a:solidFill>
                <a:latin typeface="Google Sans"/>
                <a:ea typeface="Google Sans"/>
                <a:cs typeface="Google Sans"/>
                <a:sym typeface="Google Sans"/>
              </a:rPr>
              <a:t>Analyzed model coefficients and feature importance</a:t>
            </a:r>
            <a:endParaRPr sz="950">
              <a:solidFill>
                <a:schemeClr val="dk1"/>
              </a:solidFill>
              <a:latin typeface="Google Sans"/>
              <a:ea typeface="Google Sans"/>
              <a:cs typeface="Google Sans"/>
              <a:sym typeface="Google Sans"/>
            </a:endParaRPr>
          </a:p>
          <a:p>
            <a:pPr indent="0" lvl="0" marL="0" rtl="0" algn="l">
              <a:spcBef>
                <a:spcPts val="0"/>
              </a:spcBef>
              <a:spcAft>
                <a:spcPts val="0"/>
              </a:spcAft>
              <a:buNone/>
            </a:pPr>
            <a:r>
              <a:rPr lang="en" sz="950">
                <a:solidFill>
                  <a:schemeClr val="dk1"/>
                </a:solidFill>
                <a:latin typeface="Google Sans"/>
                <a:ea typeface="Google Sans"/>
                <a:cs typeface="Google Sans"/>
                <a:sym typeface="Google Sans"/>
              </a:rPr>
              <a:t>Impact</a:t>
            </a:r>
            <a:endParaRPr sz="950">
              <a:solidFill>
                <a:schemeClr val="dk1"/>
              </a:solidFill>
              <a:latin typeface="Google Sans"/>
              <a:ea typeface="Google Sans"/>
              <a:cs typeface="Google Sans"/>
              <a:sym typeface="Google Sans"/>
            </a:endParaRPr>
          </a:p>
          <a:p>
            <a:pPr indent="-174625" lvl="0" marL="342900" rtl="0" algn="l">
              <a:spcBef>
                <a:spcPts val="0"/>
              </a:spcBef>
              <a:spcAft>
                <a:spcPts val="0"/>
              </a:spcAft>
              <a:buClr>
                <a:schemeClr val="dk1"/>
              </a:buClr>
              <a:buSzPts val="950"/>
              <a:buFont typeface="Google Sans"/>
              <a:buChar char="●"/>
            </a:pPr>
            <a:r>
              <a:rPr lang="en" sz="950">
                <a:solidFill>
                  <a:schemeClr val="dk1"/>
                </a:solidFill>
                <a:latin typeface="Google Sans"/>
                <a:ea typeface="Google Sans"/>
                <a:cs typeface="Google Sans"/>
                <a:sym typeface="Google Sans"/>
              </a:rPr>
              <a:t>Identify key factors influencing user churn</a:t>
            </a:r>
            <a:endParaRPr sz="950">
              <a:solidFill>
                <a:schemeClr val="dk1"/>
              </a:solidFill>
              <a:latin typeface="Google Sans"/>
              <a:ea typeface="Google Sans"/>
              <a:cs typeface="Google Sans"/>
              <a:sym typeface="Google Sans"/>
            </a:endParaRPr>
          </a:p>
          <a:p>
            <a:pPr indent="-174625" lvl="0" marL="342900" rtl="0" algn="l">
              <a:spcBef>
                <a:spcPts val="0"/>
              </a:spcBef>
              <a:spcAft>
                <a:spcPts val="0"/>
              </a:spcAft>
              <a:buClr>
                <a:schemeClr val="dk1"/>
              </a:buClr>
              <a:buSzPts val="950"/>
              <a:buFont typeface="Google Sans"/>
              <a:buChar char="●"/>
            </a:pPr>
            <a:r>
              <a:rPr lang="en" sz="950">
                <a:solidFill>
                  <a:schemeClr val="dk1"/>
                </a:solidFill>
                <a:latin typeface="Google Sans"/>
                <a:ea typeface="Google Sans"/>
                <a:cs typeface="Google Sans"/>
                <a:sym typeface="Google Sans"/>
              </a:rPr>
              <a:t>Assessed model’s ability to predict churn and highlighted ways for improvement</a:t>
            </a:r>
            <a:endParaRPr sz="950">
              <a:solidFill>
                <a:schemeClr val="dk1"/>
              </a:solidFill>
              <a:latin typeface="Google Sans"/>
              <a:ea typeface="Google Sans"/>
              <a:cs typeface="Google Sans"/>
              <a:sym typeface="Google Sans"/>
            </a:endParaRPr>
          </a:p>
          <a:p>
            <a:pPr indent="-174625" lvl="0" marL="342900" rtl="0" algn="l">
              <a:spcBef>
                <a:spcPts val="0"/>
              </a:spcBef>
              <a:spcAft>
                <a:spcPts val="0"/>
              </a:spcAft>
              <a:buClr>
                <a:schemeClr val="dk1"/>
              </a:buClr>
              <a:buSzPts val="950"/>
              <a:buFont typeface="Google Sans"/>
              <a:buChar char="●"/>
            </a:pPr>
            <a:r>
              <a:rPr lang="en" sz="950">
                <a:solidFill>
                  <a:schemeClr val="dk1"/>
                </a:solidFill>
                <a:latin typeface="Google Sans"/>
                <a:ea typeface="Google Sans"/>
                <a:cs typeface="Google Sans"/>
                <a:sym typeface="Google Sans"/>
              </a:rPr>
              <a:t>Providing actionable insights to support future user-retention strategies</a:t>
            </a:r>
            <a:endParaRPr sz="950">
              <a:solidFill>
                <a:schemeClr val="dk1"/>
              </a:solidFill>
              <a:latin typeface="Google Sans"/>
              <a:ea typeface="Google Sans"/>
              <a:cs typeface="Google Sans"/>
              <a:sym typeface="Google Sans"/>
            </a:endParaRPr>
          </a:p>
        </p:txBody>
      </p:sp>
      <p:pic>
        <p:nvPicPr>
          <p:cNvPr id="467" name="Google Shape;467;p19"/>
          <p:cNvPicPr preferRelativeResize="0"/>
          <p:nvPr/>
        </p:nvPicPr>
        <p:blipFill>
          <a:blip r:embed="rId3">
            <a:alphaModFix/>
          </a:blip>
          <a:stretch>
            <a:fillRect/>
          </a:stretch>
        </p:blipFill>
        <p:spPr>
          <a:xfrm>
            <a:off x="4076175" y="3787625"/>
            <a:ext cx="2629425" cy="2173300"/>
          </a:xfrm>
          <a:prstGeom prst="rect">
            <a:avLst/>
          </a:prstGeom>
          <a:noFill/>
          <a:ln>
            <a:noFill/>
          </a:ln>
        </p:spPr>
      </p:pic>
      <p:sp>
        <p:nvSpPr>
          <p:cNvPr id="468" name="Google Shape;468;p19"/>
          <p:cNvSpPr txBox="1"/>
          <p:nvPr/>
        </p:nvSpPr>
        <p:spPr>
          <a:xfrm>
            <a:off x="4112550" y="6061475"/>
            <a:ext cx="3035400" cy="3732600"/>
          </a:xfrm>
          <a:prstGeom prst="rect">
            <a:avLst/>
          </a:prstGeom>
          <a:noFill/>
          <a:ln>
            <a:noFill/>
          </a:ln>
        </p:spPr>
        <p:txBody>
          <a:bodyPr anchorCtr="0" anchor="t" bIns="91425" lIns="91425" spcFirstLastPara="1" rIns="91425" wrap="square" tIns="91425">
            <a:noAutofit/>
          </a:bodyPr>
          <a:lstStyle/>
          <a:p>
            <a:pPr indent="-254000" lvl="0" marL="228600" rtl="0" algn="l">
              <a:spcBef>
                <a:spcPts val="0"/>
              </a:spcBef>
              <a:spcAft>
                <a:spcPts val="0"/>
              </a:spcAft>
              <a:buClr>
                <a:schemeClr val="dk1"/>
              </a:buClr>
              <a:buSzPts val="1300"/>
              <a:buFont typeface="Google Sans"/>
              <a:buChar char="●"/>
            </a:pPr>
            <a:r>
              <a:rPr b="1" lang="en" sz="1300">
                <a:solidFill>
                  <a:schemeClr val="dk1"/>
                </a:solidFill>
                <a:latin typeface="Google Sans"/>
                <a:ea typeface="Google Sans"/>
                <a:cs typeface="Google Sans"/>
                <a:sym typeface="Google Sans"/>
              </a:rPr>
              <a:t>Precision: </a:t>
            </a:r>
            <a:r>
              <a:rPr lang="en" sz="1300">
                <a:solidFill>
                  <a:schemeClr val="dk1"/>
                </a:solidFill>
                <a:latin typeface="Google Sans"/>
                <a:ea typeface="Google Sans"/>
                <a:cs typeface="Google Sans"/>
                <a:sym typeface="Google Sans"/>
              </a:rPr>
              <a:t>0.549</a:t>
            </a:r>
            <a:endParaRPr sz="1300">
              <a:solidFill>
                <a:schemeClr val="dk1"/>
              </a:solidFill>
              <a:latin typeface="Google Sans"/>
              <a:ea typeface="Google Sans"/>
              <a:cs typeface="Google Sans"/>
              <a:sym typeface="Google Sans"/>
            </a:endParaRPr>
          </a:p>
          <a:p>
            <a:pPr indent="-254000" lvl="0" marL="228600" rtl="0" algn="l">
              <a:spcBef>
                <a:spcPts val="0"/>
              </a:spcBef>
              <a:spcAft>
                <a:spcPts val="0"/>
              </a:spcAft>
              <a:buClr>
                <a:schemeClr val="dk1"/>
              </a:buClr>
              <a:buSzPts val="1300"/>
              <a:buFont typeface="Google Sans"/>
              <a:buChar char="●"/>
            </a:pPr>
            <a:r>
              <a:rPr b="1" lang="en" sz="1300">
                <a:solidFill>
                  <a:schemeClr val="dk1"/>
                </a:solidFill>
                <a:latin typeface="Google Sans"/>
                <a:ea typeface="Google Sans"/>
                <a:cs typeface="Google Sans"/>
                <a:sym typeface="Google Sans"/>
              </a:rPr>
              <a:t>Recall: </a:t>
            </a:r>
            <a:r>
              <a:rPr lang="en" sz="1300">
                <a:solidFill>
                  <a:schemeClr val="dk1"/>
                </a:solidFill>
                <a:latin typeface="Google Sans"/>
                <a:ea typeface="Google Sans"/>
                <a:cs typeface="Google Sans"/>
                <a:sym typeface="Google Sans"/>
              </a:rPr>
              <a:t>0.0986</a:t>
            </a:r>
            <a:endParaRPr sz="1300">
              <a:solidFill>
                <a:schemeClr val="dk1"/>
              </a:solidFill>
              <a:latin typeface="Google Sans"/>
              <a:ea typeface="Google Sans"/>
              <a:cs typeface="Google Sans"/>
              <a:sym typeface="Google Sans"/>
            </a:endParaRPr>
          </a:p>
          <a:p>
            <a:pPr indent="-254000" lvl="0" marL="228600" rtl="0" algn="l">
              <a:spcBef>
                <a:spcPts val="0"/>
              </a:spcBef>
              <a:spcAft>
                <a:spcPts val="0"/>
              </a:spcAft>
              <a:buClr>
                <a:schemeClr val="dk1"/>
              </a:buClr>
              <a:buSzPts val="1300"/>
              <a:buFont typeface="Google Sans"/>
              <a:buChar char="●"/>
            </a:pPr>
            <a:r>
              <a:rPr lang="en" sz="1300">
                <a:solidFill>
                  <a:schemeClr val="dk1"/>
                </a:solidFill>
                <a:latin typeface="Google Sans"/>
                <a:ea typeface="Google Sans"/>
                <a:cs typeface="Google Sans"/>
                <a:sym typeface="Google Sans"/>
              </a:rPr>
              <a:t>When the model predicts that a user will churn, it is correct 54.9% of the time</a:t>
            </a:r>
            <a:endParaRPr sz="1300">
              <a:solidFill>
                <a:schemeClr val="dk1"/>
              </a:solidFill>
              <a:latin typeface="Google Sans"/>
              <a:ea typeface="Google Sans"/>
              <a:cs typeface="Google Sans"/>
              <a:sym typeface="Google Sans"/>
            </a:endParaRPr>
          </a:p>
          <a:p>
            <a:pPr indent="-254000" lvl="0" marL="228600" rtl="0" algn="l">
              <a:spcBef>
                <a:spcPts val="0"/>
              </a:spcBef>
              <a:spcAft>
                <a:spcPts val="0"/>
              </a:spcAft>
              <a:buClr>
                <a:schemeClr val="dk1"/>
              </a:buClr>
              <a:buSzPts val="1300"/>
              <a:buFont typeface="Google Sans"/>
              <a:buChar char="●"/>
            </a:pPr>
            <a:r>
              <a:rPr lang="en" sz="1300">
                <a:solidFill>
                  <a:schemeClr val="dk1"/>
                </a:solidFill>
                <a:latin typeface="Google Sans"/>
                <a:ea typeface="Google Sans"/>
                <a:cs typeface="Google Sans"/>
                <a:sym typeface="Google Sans"/>
              </a:rPr>
              <a:t>However, the model identifies only </a:t>
            </a:r>
            <a:r>
              <a:rPr b="1" lang="en" sz="1300">
                <a:solidFill>
                  <a:schemeClr val="dk1"/>
                </a:solidFill>
                <a:latin typeface="Google Sans"/>
                <a:ea typeface="Google Sans"/>
                <a:cs typeface="Google Sans"/>
                <a:sym typeface="Google Sans"/>
              </a:rPr>
              <a:t>9.86% of the users who actually churn,</a:t>
            </a:r>
            <a:r>
              <a:rPr lang="en" sz="1300">
                <a:solidFill>
                  <a:schemeClr val="dk1"/>
                </a:solidFill>
                <a:latin typeface="Google Sans"/>
                <a:ea typeface="Google Sans"/>
                <a:cs typeface="Google Sans"/>
                <a:sym typeface="Google Sans"/>
              </a:rPr>
              <a:t> indicating that most churning users are not being detected</a:t>
            </a:r>
            <a:endParaRPr sz="1300">
              <a:solidFill>
                <a:schemeClr val="dk1"/>
              </a:solidFill>
              <a:latin typeface="Google Sans"/>
              <a:ea typeface="Google Sans"/>
              <a:cs typeface="Google Sans"/>
              <a:sym typeface="Google Sans"/>
            </a:endParaRPr>
          </a:p>
          <a:p>
            <a:pPr indent="-254000" lvl="0" marL="228600" rtl="0" algn="l">
              <a:spcBef>
                <a:spcPts val="0"/>
              </a:spcBef>
              <a:spcAft>
                <a:spcPts val="0"/>
              </a:spcAft>
              <a:buClr>
                <a:schemeClr val="dk1"/>
              </a:buClr>
              <a:buSzPts val="1300"/>
              <a:buFont typeface="Google Sans"/>
              <a:buChar char="●"/>
            </a:pPr>
            <a:r>
              <a:rPr lang="en" sz="1300">
                <a:solidFill>
                  <a:schemeClr val="dk1"/>
                </a:solidFill>
                <a:highlight>
                  <a:srgbClr val="FFFFFF"/>
                </a:highlight>
              </a:rPr>
              <a:t>The model demonstrates </a:t>
            </a:r>
            <a:r>
              <a:rPr b="1" lang="en" sz="1300">
                <a:solidFill>
                  <a:schemeClr val="dk1"/>
                </a:solidFill>
                <a:highlight>
                  <a:srgbClr val="FFFFFF"/>
                </a:highlight>
              </a:rPr>
              <a:t>moderate precision but very low recall</a:t>
            </a:r>
            <a:r>
              <a:rPr lang="en" sz="1300">
                <a:solidFill>
                  <a:schemeClr val="dk1"/>
                </a:solidFill>
                <a:highlight>
                  <a:srgbClr val="FFFFFF"/>
                </a:highlight>
              </a:rPr>
              <a:t>, suggesting it is highly conservative in predicting churn</a:t>
            </a:r>
            <a:endParaRPr sz="1300">
              <a:solidFill>
                <a:schemeClr val="dk1"/>
              </a:solidFill>
            </a:endParaRPr>
          </a:p>
          <a:p>
            <a:pPr indent="-254000" lvl="0" marL="228600" rtl="0" algn="l">
              <a:spcBef>
                <a:spcPts val="0"/>
              </a:spcBef>
              <a:spcAft>
                <a:spcPts val="0"/>
              </a:spcAft>
              <a:buClr>
                <a:schemeClr val="dk1"/>
              </a:buClr>
              <a:buSzPts val="1300"/>
              <a:buChar char="●"/>
            </a:pPr>
            <a:r>
              <a:rPr b="1" lang="en" sz="1300">
                <a:solidFill>
                  <a:schemeClr val="dk1"/>
                </a:solidFill>
              </a:rPr>
              <a:t>Activity Days Was by far the most important variable</a:t>
            </a:r>
            <a:r>
              <a:rPr lang="en" sz="1300">
                <a:solidFill>
                  <a:schemeClr val="dk1"/>
                </a:solidFill>
              </a:rPr>
              <a:t>. Activity days had a negative correlation with user-churn</a:t>
            </a:r>
            <a:endParaRPr sz="1300">
              <a:solidFill>
                <a:schemeClr val="dk1"/>
              </a:solidFill>
            </a:endParaRPr>
          </a:p>
        </p:txBody>
      </p:sp>
      <p:sp>
        <p:nvSpPr>
          <p:cNvPr id="469" name="Google Shape;469;p19"/>
          <p:cNvSpPr txBox="1"/>
          <p:nvPr/>
        </p:nvSpPr>
        <p:spPr>
          <a:xfrm>
            <a:off x="578075" y="7135025"/>
            <a:ext cx="3171000" cy="2791200"/>
          </a:xfrm>
          <a:prstGeom prst="rect">
            <a:avLst/>
          </a:prstGeom>
          <a:noFill/>
          <a:ln>
            <a:noFill/>
          </a:ln>
        </p:spPr>
        <p:txBody>
          <a:bodyPr anchorCtr="0" anchor="t" bIns="91425" lIns="91425" spcFirstLastPara="1" rIns="91425" wrap="square" tIns="91425">
            <a:noAutofit/>
          </a:bodyPr>
          <a:lstStyle/>
          <a:p>
            <a:pPr indent="-184150" lvl="0" marL="342900" rtl="0" algn="l">
              <a:spcBef>
                <a:spcPts val="0"/>
              </a:spcBef>
              <a:spcAft>
                <a:spcPts val="0"/>
              </a:spcAft>
              <a:buClr>
                <a:schemeClr val="dk1"/>
              </a:buClr>
              <a:buSzPts val="1100"/>
              <a:buFont typeface="Google Sans"/>
              <a:buChar char="●"/>
            </a:pPr>
            <a:r>
              <a:rPr lang="en" sz="1100">
                <a:solidFill>
                  <a:schemeClr val="dk1"/>
                </a:solidFill>
                <a:latin typeface="Google Sans"/>
                <a:ea typeface="Google Sans"/>
                <a:cs typeface="Google Sans"/>
                <a:sym typeface="Google Sans"/>
              </a:rPr>
              <a:t>Due to the results of the model, we should not </a:t>
            </a:r>
            <a:r>
              <a:rPr lang="en" sz="1100">
                <a:solidFill>
                  <a:schemeClr val="dk1"/>
                </a:solidFill>
                <a:latin typeface="Google Sans"/>
                <a:ea typeface="Google Sans"/>
                <a:cs typeface="Google Sans"/>
                <a:sym typeface="Google Sans"/>
              </a:rPr>
              <a:t>solely</a:t>
            </a:r>
            <a:r>
              <a:rPr lang="en" sz="1100">
                <a:solidFill>
                  <a:schemeClr val="dk1"/>
                </a:solidFill>
                <a:latin typeface="Google Sans"/>
                <a:ea typeface="Google Sans"/>
                <a:cs typeface="Google Sans"/>
                <a:sym typeface="Google Sans"/>
              </a:rPr>
              <a:t> rely on this model and perform further exploration into the data.</a:t>
            </a:r>
            <a:endParaRPr sz="1100">
              <a:solidFill>
                <a:schemeClr val="dk1"/>
              </a:solidFill>
              <a:latin typeface="Google Sans"/>
              <a:ea typeface="Google Sans"/>
              <a:cs typeface="Google Sans"/>
              <a:sym typeface="Google Sans"/>
            </a:endParaRPr>
          </a:p>
          <a:p>
            <a:pPr indent="-114300" lvl="0" marL="342900" rtl="0" algn="l">
              <a:spcBef>
                <a:spcPts val="0"/>
              </a:spcBef>
              <a:spcAft>
                <a:spcPts val="0"/>
              </a:spcAft>
              <a:buNone/>
            </a:pPr>
            <a:r>
              <a:rPr lang="en" sz="1100">
                <a:solidFill>
                  <a:schemeClr val="dk1"/>
                </a:solidFill>
                <a:latin typeface="Google Sans"/>
                <a:ea typeface="Google Sans"/>
                <a:cs typeface="Google Sans"/>
                <a:sym typeface="Google Sans"/>
              </a:rPr>
              <a:t>Add </a:t>
            </a:r>
            <a:r>
              <a:rPr lang="en" sz="1100">
                <a:solidFill>
                  <a:schemeClr val="dk1"/>
                </a:solidFill>
                <a:latin typeface="Google Sans"/>
                <a:ea typeface="Google Sans"/>
                <a:cs typeface="Google Sans"/>
                <a:sym typeface="Google Sans"/>
              </a:rPr>
              <a:t>more Features</a:t>
            </a:r>
            <a:endParaRPr sz="1100">
              <a:solidFill>
                <a:schemeClr val="dk1"/>
              </a:solidFill>
              <a:latin typeface="Google Sans"/>
              <a:ea typeface="Google Sans"/>
              <a:cs typeface="Google Sans"/>
              <a:sym typeface="Google Sans"/>
            </a:endParaRPr>
          </a:p>
          <a:p>
            <a:pPr indent="-184150" lvl="0" marL="342900" rtl="0" algn="l">
              <a:spcBef>
                <a:spcPts val="0"/>
              </a:spcBef>
              <a:spcAft>
                <a:spcPts val="0"/>
              </a:spcAft>
              <a:buClr>
                <a:schemeClr val="dk1"/>
              </a:buClr>
              <a:buSzPts val="1100"/>
              <a:buFont typeface="Google Sans"/>
              <a:buChar char="●"/>
            </a:pPr>
            <a:r>
              <a:rPr lang="en" sz="1100">
                <a:solidFill>
                  <a:schemeClr val="dk1"/>
                </a:solidFill>
                <a:latin typeface="Google Sans"/>
                <a:ea typeface="Google Sans"/>
                <a:cs typeface="Google Sans"/>
                <a:sym typeface="Google Sans"/>
              </a:rPr>
              <a:t>Analyze different ratios, such as </a:t>
            </a:r>
            <a:r>
              <a:rPr b="1" lang="en" sz="1100">
                <a:solidFill>
                  <a:schemeClr val="dk1"/>
                </a:solidFill>
                <a:latin typeface="Google Sans"/>
                <a:ea typeface="Google Sans"/>
                <a:cs typeface="Google Sans"/>
                <a:sym typeface="Google Sans"/>
              </a:rPr>
              <a:t>sessions per day, or drives per active day. </a:t>
            </a:r>
            <a:endParaRPr b="1" sz="1100">
              <a:solidFill>
                <a:schemeClr val="dk1"/>
              </a:solidFill>
              <a:latin typeface="Google Sans"/>
              <a:ea typeface="Google Sans"/>
              <a:cs typeface="Google Sans"/>
              <a:sym typeface="Google Sans"/>
            </a:endParaRPr>
          </a:p>
          <a:p>
            <a:pPr indent="-184150" lvl="0" marL="342900" rtl="0" algn="l">
              <a:spcBef>
                <a:spcPts val="0"/>
              </a:spcBef>
              <a:spcAft>
                <a:spcPts val="0"/>
              </a:spcAft>
              <a:buClr>
                <a:schemeClr val="dk1"/>
              </a:buClr>
              <a:buSzPts val="1100"/>
              <a:buFont typeface="Google Sans"/>
              <a:buChar char="●"/>
            </a:pPr>
            <a:r>
              <a:rPr lang="en" sz="1100">
                <a:solidFill>
                  <a:schemeClr val="dk1"/>
                </a:solidFill>
                <a:latin typeface="Google Sans"/>
                <a:ea typeface="Google Sans"/>
                <a:cs typeface="Google Sans"/>
                <a:sym typeface="Google Sans"/>
              </a:rPr>
              <a:t>Analyze recent activity trends, such as a </a:t>
            </a:r>
            <a:r>
              <a:rPr b="1" lang="en" sz="1100">
                <a:solidFill>
                  <a:schemeClr val="dk1"/>
                </a:solidFill>
                <a:latin typeface="Google Sans"/>
                <a:ea typeface="Google Sans"/>
                <a:cs typeface="Google Sans"/>
                <a:sym typeface="Google Sans"/>
              </a:rPr>
              <a:t>30-day activity change week-over-week</a:t>
            </a:r>
            <a:r>
              <a:rPr lang="en" sz="1100">
                <a:solidFill>
                  <a:schemeClr val="dk1"/>
                </a:solidFill>
                <a:latin typeface="Google Sans"/>
                <a:ea typeface="Google Sans"/>
                <a:cs typeface="Google Sans"/>
                <a:sym typeface="Google Sans"/>
              </a:rPr>
              <a:t> for each feature to see if there are trends of usage amongst the 30 days.</a:t>
            </a:r>
            <a:endParaRPr sz="1100">
              <a:solidFill>
                <a:schemeClr val="dk1"/>
              </a:solidFill>
              <a:latin typeface="Google Sans"/>
              <a:ea typeface="Google Sans"/>
              <a:cs typeface="Google Sans"/>
              <a:sym typeface="Google Sans"/>
            </a:endParaRPr>
          </a:p>
          <a:p>
            <a:pPr indent="-114300" lvl="0" marL="342900" rtl="0" algn="l">
              <a:spcBef>
                <a:spcPts val="0"/>
              </a:spcBef>
              <a:spcAft>
                <a:spcPts val="0"/>
              </a:spcAft>
              <a:buNone/>
            </a:pPr>
            <a:r>
              <a:rPr lang="en" sz="1100">
                <a:solidFill>
                  <a:schemeClr val="dk1"/>
                </a:solidFill>
                <a:latin typeface="Google Sans"/>
                <a:ea typeface="Google Sans"/>
                <a:cs typeface="Google Sans"/>
                <a:sym typeface="Google Sans"/>
              </a:rPr>
              <a:t>Test other models</a:t>
            </a:r>
            <a:endParaRPr sz="1100">
              <a:solidFill>
                <a:schemeClr val="dk1"/>
              </a:solidFill>
              <a:latin typeface="Google Sans"/>
              <a:ea typeface="Google Sans"/>
              <a:cs typeface="Google Sans"/>
              <a:sym typeface="Google Sans"/>
            </a:endParaRPr>
          </a:p>
          <a:p>
            <a:pPr indent="-184150" lvl="0" marL="342900" rtl="0" algn="l">
              <a:spcBef>
                <a:spcPts val="0"/>
              </a:spcBef>
              <a:spcAft>
                <a:spcPts val="0"/>
              </a:spcAft>
              <a:buClr>
                <a:schemeClr val="dk1"/>
              </a:buClr>
              <a:buSzPts val="1100"/>
              <a:buFont typeface="Google Sans"/>
              <a:buChar char="●"/>
            </a:pPr>
            <a:r>
              <a:rPr lang="en" sz="1100">
                <a:solidFill>
                  <a:schemeClr val="dk1"/>
                </a:solidFill>
                <a:latin typeface="Google Sans"/>
                <a:ea typeface="Google Sans"/>
                <a:cs typeface="Google Sans"/>
                <a:sym typeface="Google Sans"/>
              </a:rPr>
              <a:t>Test other models, such as random forest and Gradient Boosting to see if those models can more accurately predict model results</a:t>
            </a:r>
            <a:endParaRPr sz="1100">
              <a:solidFill>
                <a:schemeClr val="dk1"/>
              </a:solidFill>
              <a:latin typeface="Google Sans"/>
              <a:ea typeface="Google Sans"/>
              <a:cs typeface="Google Sans"/>
              <a:sym typeface="Google Sans"/>
            </a:endParaRPr>
          </a:p>
        </p:txBody>
      </p:sp>
      <p:pic>
        <p:nvPicPr>
          <p:cNvPr id="470" name="Google Shape;470;p19"/>
          <p:cNvPicPr preferRelativeResize="0"/>
          <p:nvPr/>
        </p:nvPicPr>
        <p:blipFill>
          <a:blip r:embed="rId4">
            <a:alphaModFix/>
          </a:blip>
          <a:stretch>
            <a:fillRect/>
          </a:stretch>
        </p:blipFill>
        <p:spPr>
          <a:xfrm>
            <a:off x="6463300" y="207025"/>
            <a:ext cx="1002525" cy="100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grpSp>
        <p:nvGrpSpPr>
          <p:cNvPr id="475" name="Google Shape;475;p20"/>
          <p:cNvGrpSpPr/>
          <p:nvPr/>
        </p:nvGrpSpPr>
        <p:grpSpPr>
          <a:xfrm>
            <a:off x="188700" y="665125"/>
            <a:ext cx="5190000" cy="771300"/>
            <a:chOff x="188700" y="665125"/>
            <a:chExt cx="5190000" cy="771300"/>
          </a:xfrm>
        </p:grpSpPr>
        <p:sp>
          <p:nvSpPr>
            <p:cNvPr id="476" name="Google Shape;476;p20"/>
            <p:cNvSpPr txBox="1"/>
            <p:nvPr/>
          </p:nvSpPr>
          <p:spPr>
            <a:xfrm>
              <a:off x="188700" y="665125"/>
              <a:ext cx="51900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en" sz="1600">
                  <a:latin typeface="Google Sans SemiBold"/>
                  <a:ea typeface="Google Sans SemiBold"/>
                  <a:cs typeface="Google Sans SemiBold"/>
                  <a:sym typeface="Google Sans SemiBold"/>
                </a:rPr>
                <a:t>User Churn Project | Random Forest and XGBoost</a:t>
              </a:r>
              <a:endParaRPr sz="1900">
                <a:solidFill>
                  <a:srgbClr val="000000"/>
                </a:solidFill>
                <a:latin typeface="Google Sans SemiBold"/>
                <a:ea typeface="Google Sans SemiBold"/>
                <a:cs typeface="Google Sans SemiBold"/>
                <a:sym typeface="Google Sans SemiBold"/>
              </a:endParaRPr>
            </a:p>
          </p:txBody>
        </p:sp>
        <p:sp>
          <p:nvSpPr>
            <p:cNvPr id="477" name="Google Shape;477;p20"/>
            <p:cNvSpPr txBox="1"/>
            <p:nvPr/>
          </p:nvSpPr>
          <p:spPr>
            <a:xfrm>
              <a:off x="188700" y="1036225"/>
              <a:ext cx="3516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a:latin typeface="Roboto"/>
                  <a:ea typeface="Roboto"/>
                  <a:cs typeface="Roboto"/>
                  <a:sym typeface="Roboto"/>
                </a:rPr>
                <a:t>Prepared for: Waze Leadership Team</a:t>
              </a:r>
              <a:endParaRPr>
                <a:solidFill>
                  <a:srgbClr val="000000"/>
                </a:solidFill>
                <a:latin typeface="Roboto"/>
                <a:ea typeface="Roboto"/>
                <a:cs typeface="Roboto"/>
                <a:sym typeface="Roboto"/>
              </a:endParaRPr>
            </a:p>
          </p:txBody>
        </p:sp>
      </p:grpSp>
      <p:sp>
        <p:nvSpPr>
          <p:cNvPr id="478" name="Google Shape;478;p20"/>
          <p:cNvSpPr txBox="1"/>
          <p:nvPr/>
        </p:nvSpPr>
        <p:spPr>
          <a:xfrm>
            <a:off x="260275" y="2020875"/>
            <a:ext cx="2694600" cy="29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Google Sans"/>
                <a:ea typeface="Google Sans"/>
                <a:cs typeface="Google Sans"/>
                <a:sym typeface="Google Sans"/>
              </a:rPr>
              <a:t>Waze is seeking to reduce user churn by identifying users who are likely to stop using the </a:t>
            </a:r>
            <a:r>
              <a:rPr lang="en" sz="1300">
                <a:solidFill>
                  <a:schemeClr val="dk2"/>
                </a:solidFill>
                <a:latin typeface="Google Sans"/>
                <a:ea typeface="Google Sans"/>
                <a:cs typeface="Google Sans"/>
                <a:sym typeface="Google Sans"/>
              </a:rPr>
              <a:t>application</a:t>
            </a:r>
            <a:r>
              <a:rPr lang="en" sz="1300">
                <a:solidFill>
                  <a:schemeClr val="dk2"/>
                </a:solidFill>
                <a:latin typeface="Google Sans"/>
                <a:ea typeface="Google Sans"/>
                <a:cs typeface="Google Sans"/>
                <a:sym typeface="Google Sans"/>
              </a:rPr>
              <a:t>. Without effective proactive solutions, retention efforts may be reactive, and a machine learning model can help predict churn based on different activity patterns. To address this challenge, machine learning models such as Random Forest and XGBoost were </a:t>
            </a:r>
            <a:r>
              <a:rPr lang="en" sz="1300">
                <a:solidFill>
                  <a:schemeClr val="dk2"/>
                </a:solidFill>
                <a:latin typeface="Google Sans"/>
                <a:ea typeface="Google Sans"/>
                <a:cs typeface="Google Sans"/>
                <a:sym typeface="Google Sans"/>
              </a:rPr>
              <a:t>evaluated</a:t>
            </a:r>
            <a:r>
              <a:rPr lang="en" sz="1300">
                <a:solidFill>
                  <a:schemeClr val="dk2"/>
                </a:solidFill>
                <a:latin typeface="Google Sans"/>
                <a:ea typeface="Google Sans"/>
                <a:cs typeface="Google Sans"/>
                <a:sym typeface="Google Sans"/>
              </a:rPr>
              <a:t> to predict churn based on user activity and engagement patterns.</a:t>
            </a:r>
            <a:endParaRPr sz="1500">
              <a:solidFill>
                <a:schemeClr val="dk2"/>
              </a:solidFill>
              <a:latin typeface="Google Sans"/>
              <a:ea typeface="Google Sans"/>
              <a:cs typeface="Google Sans"/>
              <a:sym typeface="Google Sans"/>
            </a:endParaRPr>
          </a:p>
        </p:txBody>
      </p:sp>
      <p:sp>
        <p:nvSpPr>
          <p:cNvPr id="479" name="Google Shape;479;p20"/>
          <p:cNvSpPr txBox="1"/>
          <p:nvPr/>
        </p:nvSpPr>
        <p:spPr>
          <a:xfrm>
            <a:off x="3220675" y="1793475"/>
            <a:ext cx="4418700" cy="2708700"/>
          </a:xfrm>
          <a:prstGeom prst="rect">
            <a:avLst/>
          </a:prstGeom>
          <a:noFill/>
          <a:ln>
            <a:noFill/>
          </a:ln>
        </p:spPr>
        <p:txBody>
          <a:bodyPr anchorCtr="0" anchor="t" bIns="91425" lIns="91425" spcFirstLastPara="1" rIns="91425" wrap="square" tIns="91425">
            <a:noAutofit/>
          </a:bodyPr>
          <a:lstStyle/>
          <a:p>
            <a:pPr indent="-180975" lvl="0" marL="114300" rtl="0" algn="l">
              <a:spcBef>
                <a:spcPts val="0"/>
              </a:spcBef>
              <a:spcAft>
                <a:spcPts val="0"/>
              </a:spcAft>
              <a:buClr>
                <a:schemeClr val="dk2"/>
              </a:buClr>
              <a:buSzPts val="1050"/>
              <a:buFont typeface="Google Sans"/>
              <a:buChar char="●"/>
            </a:pPr>
            <a:r>
              <a:rPr lang="en" sz="1050">
                <a:solidFill>
                  <a:schemeClr val="dk2"/>
                </a:solidFill>
                <a:latin typeface="Google Sans"/>
                <a:ea typeface="Google Sans"/>
                <a:cs typeface="Google Sans"/>
                <a:sym typeface="Google Sans"/>
              </a:rPr>
              <a:t>Performed feature engineering to create new predictors, including </a:t>
            </a:r>
            <a:r>
              <a:rPr b="1" lang="en" sz="1050">
                <a:solidFill>
                  <a:schemeClr val="dk2"/>
                </a:solidFill>
                <a:latin typeface="Google Sans"/>
                <a:ea typeface="Google Sans"/>
                <a:cs typeface="Google Sans"/>
                <a:sym typeface="Google Sans"/>
              </a:rPr>
              <a:t>km per hour, professional driver, total sessions per day, and other user engagement metrics</a:t>
            </a:r>
            <a:endParaRPr b="1" sz="1050">
              <a:solidFill>
                <a:schemeClr val="dk2"/>
              </a:solidFill>
              <a:latin typeface="Google Sans"/>
              <a:ea typeface="Google Sans"/>
              <a:cs typeface="Google Sans"/>
              <a:sym typeface="Google Sans"/>
            </a:endParaRPr>
          </a:p>
          <a:p>
            <a:pPr indent="-180975" lvl="0" marL="114300" rtl="0" algn="l">
              <a:spcBef>
                <a:spcPts val="0"/>
              </a:spcBef>
              <a:spcAft>
                <a:spcPts val="0"/>
              </a:spcAft>
              <a:buClr>
                <a:schemeClr val="dk2"/>
              </a:buClr>
              <a:buSzPts val="1050"/>
              <a:buFont typeface="Google Sans"/>
              <a:buChar char="●"/>
            </a:pPr>
            <a:r>
              <a:rPr lang="en" sz="1050">
                <a:solidFill>
                  <a:schemeClr val="dk2"/>
                </a:solidFill>
                <a:latin typeface="Google Sans"/>
                <a:ea typeface="Google Sans"/>
                <a:cs typeface="Google Sans"/>
                <a:sym typeface="Google Sans"/>
              </a:rPr>
              <a:t>Split data into </a:t>
            </a:r>
            <a:r>
              <a:rPr b="1" lang="en" sz="1050">
                <a:solidFill>
                  <a:schemeClr val="dk2"/>
                </a:solidFill>
                <a:latin typeface="Google Sans"/>
                <a:ea typeface="Google Sans"/>
                <a:cs typeface="Google Sans"/>
                <a:sym typeface="Google Sans"/>
              </a:rPr>
              <a:t>train, validation and test datasets</a:t>
            </a:r>
            <a:r>
              <a:rPr lang="en" sz="1050">
                <a:solidFill>
                  <a:schemeClr val="dk2"/>
                </a:solidFill>
                <a:latin typeface="Google Sans"/>
                <a:ea typeface="Google Sans"/>
                <a:cs typeface="Google Sans"/>
                <a:sym typeface="Google Sans"/>
              </a:rPr>
              <a:t> to support model development and evaluation</a:t>
            </a:r>
            <a:endParaRPr sz="1050">
              <a:solidFill>
                <a:schemeClr val="dk2"/>
              </a:solidFill>
              <a:latin typeface="Google Sans"/>
              <a:ea typeface="Google Sans"/>
              <a:cs typeface="Google Sans"/>
              <a:sym typeface="Google Sans"/>
            </a:endParaRPr>
          </a:p>
          <a:p>
            <a:pPr indent="-180975" lvl="0" marL="114300" rtl="0" algn="l">
              <a:spcBef>
                <a:spcPts val="0"/>
              </a:spcBef>
              <a:spcAft>
                <a:spcPts val="0"/>
              </a:spcAft>
              <a:buClr>
                <a:schemeClr val="dk2"/>
              </a:buClr>
              <a:buSzPts val="1050"/>
              <a:buFont typeface="Google Sans"/>
              <a:buChar char="●"/>
            </a:pPr>
            <a:r>
              <a:rPr lang="en" sz="1050">
                <a:solidFill>
                  <a:schemeClr val="dk2"/>
                </a:solidFill>
                <a:latin typeface="Google Sans"/>
                <a:ea typeface="Google Sans"/>
                <a:cs typeface="Google Sans"/>
                <a:sym typeface="Google Sans"/>
              </a:rPr>
              <a:t>Built and evaluated </a:t>
            </a:r>
            <a:r>
              <a:rPr b="1" lang="en" sz="1050">
                <a:solidFill>
                  <a:schemeClr val="dk2"/>
                </a:solidFill>
                <a:latin typeface="Google Sans"/>
                <a:ea typeface="Google Sans"/>
                <a:cs typeface="Google Sans"/>
                <a:sym typeface="Google Sans"/>
              </a:rPr>
              <a:t>Random Forest and XGBoost classification models, using GridSearch</a:t>
            </a:r>
            <a:r>
              <a:rPr lang="en" sz="1050">
                <a:solidFill>
                  <a:schemeClr val="dk2"/>
                </a:solidFill>
                <a:latin typeface="Google Sans"/>
                <a:ea typeface="Google Sans"/>
                <a:cs typeface="Google Sans"/>
                <a:sym typeface="Google Sans"/>
              </a:rPr>
              <a:t> to identify the best-performing hyperparameter combinations</a:t>
            </a:r>
            <a:endParaRPr sz="1050">
              <a:solidFill>
                <a:schemeClr val="dk2"/>
              </a:solidFill>
              <a:latin typeface="Google Sans"/>
              <a:ea typeface="Google Sans"/>
              <a:cs typeface="Google Sans"/>
              <a:sym typeface="Google Sans"/>
            </a:endParaRPr>
          </a:p>
          <a:p>
            <a:pPr indent="-180975" lvl="0" marL="114300" rtl="0" algn="l">
              <a:spcBef>
                <a:spcPts val="0"/>
              </a:spcBef>
              <a:spcAft>
                <a:spcPts val="0"/>
              </a:spcAft>
              <a:buClr>
                <a:schemeClr val="dk2"/>
              </a:buClr>
              <a:buSzPts val="1050"/>
              <a:buFont typeface="Google Sans"/>
              <a:buChar char="●"/>
            </a:pPr>
            <a:r>
              <a:rPr lang="en" sz="1050">
                <a:solidFill>
                  <a:schemeClr val="dk2"/>
                </a:solidFill>
                <a:latin typeface="Google Sans"/>
                <a:ea typeface="Google Sans"/>
                <a:cs typeface="Google Sans"/>
                <a:sym typeface="Google Sans"/>
              </a:rPr>
              <a:t>Evaluated model performance, using </a:t>
            </a:r>
            <a:r>
              <a:rPr b="1" lang="en" sz="1050">
                <a:solidFill>
                  <a:schemeClr val="dk2"/>
                </a:solidFill>
                <a:latin typeface="Google Sans"/>
                <a:ea typeface="Google Sans"/>
                <a:cs typeface="Google Sans"/>
                <a:sym typeface="Google Sans"/>
              </a:rPr>
              <a:t>accuracy, </a:t>
            </a:r>
            <a:r>
              <a:rPr b="1" lang="en" sz="1050">
                <a:solidFill>
                  <a:schemeClr val="dk2"/>
                </a:solidFill>
                <a:latin typeface="Google Sans"/>
                <a:ea typeface="Google Sans"/>
                <a:cs typeface="Google Sans"/>
                <a:sym typeface="Google Sans"/>
              </a:rPr>
              <a:t>precision, recall, and F1 score</a:t>
            </a:r>
            <a:r>
              <a:rPr lang="en" sz="1050">
                <a:solidFill>
                  <a:schemeClr val="dk2"/>
                </a:solidFill>
                <a:latin typeface="Google Sans"/>
                <a:ea typeface="Google Sans"/>
                <a:cs typeface="Google Sans"/>
                <a:sym typeface="Google Sans"/>
              </a:rPr>
              <a:t>, selecting the strongest model based on ability to identify user risk of churn</a:t>
            </a:r>
            <a:endParaRPr sz="1050">
              <a:solidFill>
                <a:schemeClr val="dk2"/>
              </a:solidFill>
              <a:latin typeface="Google Sans"/>
              <a:ea typeface="Google Sans"/>
              <a:cs typeface="Google Sans"/>
              <a:sym typeface="Google Sans"/>
            </a:endParaRPr>
          </a:p>
          <a:p>
            <a:pPr indent="-180975" lvl="0" marL="114300" rtl="0" algn="l">
              <a:spcBef>
                <a:spcPts val="0"/>
              </a:spcBef>
              <a:spcAft>
                <a:spcPts val="0"/>
              </a:spcAft>
              <a:buClr>
                <a:schemeClr val="dk2"/>
              </a:buClr>
              <a:buSzPts val="1050"/>
              <a:buFont typeface="Google Sans"/>
              <a:buChar char="●"/>
            </a:pPr>
            <a:r>
              <a:rPr lang="en" sz="1050">
                <a:solidFill>
                  <a:schemeClr val="dk2"/>
                </a:solidFill>
                <a:latin typeface="Google Sans"/>
                <a:ea typeface="Google Sans"/>
                <a:cs typeface="Google Sans"/>
                <a:sym typeface="Google Sans"/>
              </a:rPr>
              <a:t>Tested champion model on unseen data and analyzed results to assess effectiveness in predicting user churn</a:t>
            </a:r>
            <a:endParaRPr sz="1050">
              <a:solidFill>
                <a:schemeClr val="dk2"/>
              </a:solidFill>
              <a:latin typeface="Google Sans"/>
              <a:ea typeface="Google Sans"/>
              <a:cs typeface="Google Sans"/>
              <a:sym typeface="Google Sans"/>
            </a:endParaRPr>
          </a:p>
          <a:p>
            <a:pPr indent="-180975" lvl="0" marL="114300" rtl="0" algn="l">
              <a:spcBef>
                <a:spcPts val="0"/>
              </a:spcBef>
              <a:spcAft>
                <a:spcPts val="0"/>
              </a:spcAft>
              <a:buClr>
                <a:schemeClr val="dk2"/>
              </a:buClr>
              <a:buSzPts val="1050"/>
              <a:buFont typeface="Google Sans"/>
              <a:buChar char="●"/>
            </a:pPr>
            <a:r>
              <a:rPr lang="en" sz="1050">
                <a:solidFill>
                  <a:schemeClr val="dk2"/>
                </a:solidFill>
                <a:latin typeface="Google Sans"/>
                <a:ea typeface="Google Sans"/>
                <a:cs typeface="Google Sans"/>
                <a:sym typeface="Google Sans"/>
              </a:rPr>
              <a:t>Created </a:t>
            </a:r>
            <a:r>
              <a:rPr b="1" lang="en" sz="1050">
                <a:solidFill>
                  <a:schemeClr val="dk2"/>
                </a:solidFill>
                <a:latin typeface="Google Sans"/>
                <a:ea typeface="Google Sans"/>
                <a:cs typeface="Google Sans"/>
                <a:sym typeface="Google Sans"/>
              </a:rPr>
              <a:t>confusion matrix and feature importance graph to interpret model performance</a:t>
            </a:r>
            <a:r>
              <a:rPr lang="en" sz="1050">
                <a:solidFill>
                  <a:schemeClr val="dk2"/>
                </a:solidFill>
                <a:latin typeface="Google Sans"/>
                <a:ea typeface="Google Sans"/>
                <a:cs typeface="Google Sans"/>
                <a:sym typeface="Google Sans"/>
              </a:rPr>
              <a:t> and identify variables most strongly associated with churn</a:t>
            </a:r>
            <a:endParaRPr sz="1050">
              <a:solidFill>
                <a:schemeClr val="dk2"/>
              </a:solidFill>
              <a:latin typeface="Google Sans"/>
              <a:ea typeface="Google Sans"/>
              <a:cs typeface="Google Sans"/>
              <a:sym typeface="Google Sans"/>
            </a:endParaRPr>
          </a:p>
          <a:p>
            <a:pPr indent="0" lvl="0" marL="0" rtl="0" algn="l">
              <a:spcBef>
                <a:spcPts val="0"/>
              </a:spcBef>
              <a:spcAft>
                <a:spcPts val="0"/>
              </a:spcAft>
              <a:buNone/>
            </a:pPr>
            <a:r>
              <a:t/>
            </a:r>
            <a:endParaRPr sz="1500">
              <a:solidFill>
                <a:schemeClr val="dk2"/>
              </a:solidFill>
              <a:latin typeface="Google Sans"/>
              <a:ea typeface="Google Sans"/>
              <a:cs typeface="Google Sans"/>
              <a:sym typeface="Google Sans"/>
            </a:endParaRPr>
          </a:p>
          <a:p>
            <a:pPr indent="0" lvl="0" marL="0" rtl="0" algn="l">
              <a:spcBef>
                <a:spcPts val="0"/>
              </a:spcBef>
              <a:spcAft>
                <a:spcPts val="0"/>
              </a:spcAft>
              <a:buNone/>
            </a:pPr>
            <a:r>
              <a:t/>
            </a:r>
            <a:endParaRPr sz="1800">
              <a:solidFill>
                <a:schemeClr val="dk2"/>
              </a:solidFill>
              <a:latin typeface="Google Sans"/>
              <a:ea typeface="Google Sans"/>
              <a:cs typeface="Google Sans"/>
              <a:sym typeface="Google Sans"/>
            </a:endParaRPr>
          </a:p>
        </p:txBody>
      </p:sp>
      <p:sp>
        <p:nvSpPr>
          <p:cNvPr id="480" name="Google Shape;480;p20"/>
          <p:cNvSpPr txBox="1"/>
          <p:nvPr/>
        </p:nvSpPr>
        <p:spPr>
          <a:xfrm>
            <a:off x="346850" y="5565975"/>
            <a:ext cx="2607900" cy="4410000"/>
          </a:xfrm>
          <a:prstGeom prst="rect">
            <a:avLst/>
          </a:prstGeom>
          <a:noFill/>
          <a:ln>
            <a:noFill/>
          </a:ln>
        </p:spPr>
        <p:txBody>
          <a:bodyPr anchorCtr="0" anchor="t" bIns="91425" lIns="400050" spcFirstLastPara="1" rIns="91425" wrap="square" tIns="91425">
            <a:noAutofit/>
          </a:bodyPr>
          <a:lstStyle/>
          <a:p>
            <a:pPr indent="-304800" lvl="0" marL="0" rtl="0" algn="l">
              <a:spcBef>
                <a:spcPts val="0"/>
              </a:spcBef>
              <a:spcAft>
                <a:spcPts val="0"/>
              </a:spcAft>
              <a:buClr>
                <a:schemeClr val="dk2"/>
              </a:buClr>
              <a:buSzPts val="1200"/>
              <a:buFont typeface="Google Sans"/>
              <a:buChar char="●"/>
            </a:pPr>
            <a:r>
              <a:rPr lang="en" sz="1200">
                <a:solidFill>
                  <a:schemeClr val="dk2"/>
                </a:solidFill>
                <a:latin typeface="Google Sans"/>
                <a:ea typeface="Google Sans"/>
                <a:cs typeface="Google Sans"/>
                <a:sym typeface="Google Sans"/>
              </a:rPr>
              <a:t>This model requires more training data and features in order to accurately make predictions over the data.</a:t>
            </a:r>
            <a:endParaRPr sz="1200">
              <a:solidFill>
                <a:schemeClr val="dk2"/>
              </a:solidFill>
              <a:latin typeface="Google Sans"/>
              <a:ea typeface="Google Sans"/>
              <a:cs typeface="Google Sans"/>
              <a:sym typeface="Google Sans"/>
            </a:endParaRPr>
          </a:p>
          <a:p>
            <a:pPr indent="-304800" lvl="0" marL="0" rtl="0" algn="l">
              <a:spcBef>
                <a:spcPts val="0"/>
              </a:spcBef>
              <a:spcAft>
                <a:spcPts val="0"/>
              </a:spcAft>
              <a:buClr>
                <a:schemeClr val="dk2"/>
              </a:buClr>
              <a:buSzPts val="1200"/>
              <a:buFont typeface="Google Sans"/>
              <a:buChar char="●"/>
            </a:pPr>
            <a:r>
              <a:rPr lang="en" sz="1200">
                <a:solidFill>
                  <a:schemeClr val="dk2"/>
                </a:solidFill>
                <a:latin typeface="Google Sans"/>
                <a:ea typeface="Google Sans"/>
                <a:cs typeface="Google Sans"/>
                <a:sym typeface="Google Sans"/>
              </a:rPr>
              <a:t>This model demonstrates an </a:t>
            </a:r>
            <a:r>
              <a:rPr b="1" lang="en" sz="1200">
                <a:solidFill>
                  <a:schemeClr val="dk2"/>
                </a:solidFill>
                <a:latin typeface="Google Sans"/>
                <a:ea typeface="Google Sans"/>
                <a:cs typeface="Google Sans"/>
                <a:sym typeface="Google Sans"/>
              </a:rPr>
              <a:t>80% accuracy level, but we only end up with a recall of 18% and F1 score of 24%</a:t>
            </a:r>
            <a:endParaRPr sz="1200">
              <a:solidFill>
                <a:schemeClr val="dk2"/>
              </a:solidFill>
              <a:latin typeface="Google Sans"/>
              <a:ea typeface="Google Sans"/>
              <a:cs typeface="Google Sans"/>
              <a:sym typeface="Google Sans"/>
            </a:endParaRPr>
          </a:p>
          <a:p>
            <a:pPr indent="-190500" lvl="1" marL="228600" rtl="0" algn="l">
              <a:spcBef>
                <a:spcPts val="0"/>
              </a:spcBef>
              <a:spcAft>
                <a:spcPts val="0"/>
              </a:spcAft>
              <a:buClr>
                <a:schemeClr val="dk2"/>
              </a:buClr>
              <a:buSzPts val="1200"/>
              <a:buFont typeface="Google Sans"/>
              <a:buChar char="○"/>
            </a:pPr>
            <a:r>
              <a:rPr lang="en" sz="1200">
                <a:solidFill>
                  <a:schemeClr val="dk2"/>
                </a:solidFill>
                <a:latin typeface="Google Sans"/>
                <a:ea typeface="Google Sans"/>
                <a:cs typeface="Google Sans"/>
                <a:sym typeface="Google Sans"/>
              </a:rPr>
              <a:t>Therefore, this model can be used with caution, and used for insight purposes. Waze may want to avoid using it to drive business decisions.</a:t>
            </a:r>
            <a:endParaRPr sz="1200">
              <a:solidFill>
                <a:schemeClr val="dk2"/>
              </a:solidFill>
              <a:latin typeface="Google Sans"/>
              <a:ea typeface="Google Sans"/>
              <a:cs typeface="Google Sans"/>
              <a:sym typeface="Google Sans"/>
            </a:endParaRPr>
          </a:p>
          <a:p>
            <a:pPr indent="-304800" lvl="0" marL="0" rtl="0" algn="l">
              <a:spcBef>
                <a:spcPts val="0"/>
              </a:spcBef>
              <a:spcAft>
                <a:spcPts val="0"/>
              </a:spcAft>
              <a:buClr>
                <a:schemeClr val="dk2"/>
              </a:buClr>
              <a:buSzPts val="1200"/>
              <a:buFont typeface="Google Sans"/>
              <a:buChar char="●"/>
            </a:pPr>
            <a:r>
              <a:rPr lang="en" sz="1200">
                <a:solidFill>
                  <a:schemeClr val="dk2"/>
                </a:solidFill>
                <a:latin typeface="Google Sans"/>
                <a:ea typeface="Google Sans"/>
                <a:cs typeface="Google Sans"/>
                <a:sym typeface="Google Sans"/>
              </a:rPr>
              <a:t>In order to achieve a better model, we could add additional features including other ratios, such as drives per activity day, navigation rate, activity ratio, weekend vs. weekday usage patterns (if available), and trend/change in activity overtime.</a:t>
            </a:r>
            <a:endParaRPr sz="1200">
              <a:solidFill>
                <a:schemeClr val="dk2"/>
              </a:solidFill>
              <a:latin typeface="Google Sans"/>
              <a:ea typeface="Google Sans"/>
              <a:cs typeface="Google Sans"/>
              <a:sym typeface="Google Sans"/>
            </a:endParaRPr>
          </a:p>
        </p:txBody>
      </p:sp>
      <p:pic>
        <p:nvPicPr>
          <p:cNvPr id="481" name="Google Shape;481;p20"/>
          <p:cNvPicPr preferRelativeResize="0"/>
          <p:nvPr/>
        </p:nvPicPr>
        <p:blipFill>
          <a:blip r:embed="rId3">
            <a:alphaModFix/>
          </a:blip>
          <a:stretch>
            <a:fillRect/>
          </a:stretch>
        </p:blipFill>
        <p:spPr>
          <a:xfrm>
            <a:off x="3126525" y="4765850"/>
            <a:ext cx="4512849" cy="2708614"/>
          </a:xfrm>
          <a:prstGeom prst="rect">
            <a:avLst/>
          </a:prstGeom>
          <a:noFill/>
          <a:ln>
            <a:noFill/>
          </a:ln>
        </p:spPr>
      </p:pic>
      <p:sp>
        <p:nvSpPr>
          <p:cNvPr id="482" name="Google Shape;482;p20"/>
          <p:cNvSpPr txBox="1"/>
          <p:nvPr/>
        </p:nvSpPr>
        <p:spPr>
          <a:xfrm>
            <a:off x="3183575" y="7508450"/>
            <a:ext cx="4513800" cy="2467500"/>
          </a:xfrm>
          <a:prstGeom prst="rect">
            <a:avLst/>
          </a:prstGeom>
          <a:noFill/>
          <a:ln>
            <a:noFill/>
          </a:ln>
        </p:spPr>
        <p:txBody>
          <a:bodyPr anchorCtr="0" anchor="t" bIns="91425" lIns="91425" spcFirstLastPara="1" rIns="91425" wrap="square" tIns="91425">
            <a:noAutofit/>
          </a:bodyPr>
          <a:lstStyle/>
          <a:p>
            <a:pPr indent="-190500" lvl="0" marL="114300" rtl="0" algn="l">
              <a:spcBef>
                <a:spcPts val="0"/>
              </a:spcBef>
              <a:spcAft>
                <a:spcPts val="0"/>
              </a:spcAft>
              <a:buClr>
                <a:schemeClr val="dk2"/>
              </a:buClr>
              <a:buSzPts val="1200"/>
              <a:buFont typeface="Google Sans"/>
              <a:buChar char="●"/>
            </a:pPr>
            <a:r>
              <a:rPr b="1" lang="en" sz="1200">
                <a:solidFill>
                  <a:schemeClr val="dk2"/>
                </a:solidFill>
                <a:latin typeface="Google Sans"/>
                <a:ea typeface="Google Sans"/>
                <a:cs typeface="Google Sans"/>
                <a:sym typeface="Google Sans"/>
              </a:rPr>
              <a:t>Engineered features have high feature importance</a:t>
            </a:r>
            <a:r>
              <a:rPr lang="en" sz="1200">
                <a:solidFill>
                  <a:schemeClr val="dk2"/>
                </a:solidFill>
                <a:latin typeface="Google Sans"/>
                <a:ea typeface="Google Sans"/>
                <a:cs typeface="Google Sans"/>
                <a:sym typeface="Google Sans"/>
              </a:rPr>
              <a:t>: Including Km per hour, percent_sessions_in_last_month, total_sessions_per_day, driven_km_drives, duration_minutes_drive</a:t>
            </a:r>
            <a:endParaRPr sz="1200">
              <a:solidFill>
                <a:schemeClr val="dk2"/>
              </a:solidFill>
              <a:latin typeface="Google Sans"/>
              <a:ea typeface="Google Sans"/>
              <a:cs typeface="Google Sans"/>
              <a:sym typeface="Google Sans"/>
            </a:endParaRPr>
          </a:p>
          <a:p>
            <a:pPr indent="-190500" lvl="0" marL="114300" rtl="0" algn="l">
              <a:spcBef>
                <a:spcPts val="0"/>
              </a:spcBef>
              <a:spcAft>
                <a:spcPts val="0"/>
              </a:spcAft>
              <a:buClr>
                <a:schemeClr val="dk2"/>
              </a:buClr>
              <a:buSzPts val="1200"/>
              <a:buFont typeface="Google Sans"/>
              <a:buChar char="●"/>
            </a:pPr>
            <a:r>
              <a:rPr b="1" lang="en" sz="1200">
                <a:solidFill>
                  <a:schemeClr val="dk2"/>
                </a:solidFill>
                <a:latin typeface="Google Sans"/>
                <a:ea typeface="Google Sans"/>
                <a:cs typeface="Google Sans"/>
                <a:sym typeface="Google Sans"/>
              </a:rPr>
              <a:t>XGBoost model performed better than Random Forest</a:t>
            </a:r>
            <a:r>
              <a:rPr lang="en" sz="1200">
                <a:solidFill>
                  <a:schemeClr val="dk2"/>
                </a:solidFill>
                <a:latin typeface="Google Sans"/>
                <a:ea typeface="Google Sans"/>
                <a:cs typeface="Google Sans"/>
                <a:sym typeface="Google Sans"/>
              </a:rPr>
              <a:t>: XGBoost model had higher precision, recall, F1, and accuracy rates</a:t>
            </a:r>
            <a:endParaRPr sz="1200">
              <a:solidFill>
                <a:schemeClr val="dk2"/>
              </a:solidFill>
              <a:latin typeface="Google Sans"/>
              <a:ea typeface="Google Sans"/>
              <a:cs typeface="Google Sans"/>
              <a:sym typeface="Google Sans"/>
            </a:endParaRPr>
          </a:p>
          <a:p>
            <a:pPr indent="-190500" lvl="0" marL="114300" rtl="0" algn="l">
              <a:spcBef>
                <a:spcPts val="0"/>
              </a:spcBef>
              <a:spcAft>
                <a:spcPts val="0"/>
              </a:spcAft>
              <a:buClr>
                <a:schemeClr val="dk2"/>
              </a:buClr>
              <a:buSzPts val="1200"/>
              <a:buFont typeface="Google Sans"/>
              <a:buChar char="●"/>
            </a:pPr>
            <a:r>
              <a:rPr b="1" lang="en" sz="1200">
                <a:solidFill>
                  <a:schemeClr val="dk2"/>
                </a:solidFill>
                <a:latin typeface="Google Sans"/>
                <a:ea typeface="Google Sans"/>
                <a:cs typeface="Google Sans"/>
                <a:sym typeface="Google Sans"/>
              </a:rPr>
              <a:t>Even though XGBoost performed better, it is harder to classify the importance and magnitude of each feature in comparison to Logistic Regression:</a:t>
            </a:r>
            <a:r>
              <a:rPr lang="en" sz="1200">
                <a:solidFill>
                  <a:schemeClr val="dk2"/>
                </a:solidFill>
                <a:latin typeface="Google Sans"/>
                <a:ea typeface="Google Sans"/>
                <a:cs typeface="Google Sans"/>
                <a:sym typeface="Google Sans"/>
              </a:rPr>
              <a:t> Logistic regression has coefficients that can help model interactions and look at the tangible effect of multiple variables.</a:t>
            </a:r>
            <a:endParaRPr sz="1200">
              <a:solidFill>
                <a:schemeClr val="dk2"/>
              </a:solidFill>
              <a:latin typeface="Google Sans"/>
              <a:ea typeface="Google Sans"/>
              <a:cs typeface="Google Sans"/>
              <a:sym typeface="Google Sans"/>
            </a:endParaRPr>
          </a:p>
        </p:txBody>
      </p:sp>
      <p:pic>
        <p:nvPicPr>
          <p:cNvPr id="483" name="Google Shape;483;p20"/>
          <p:cNvPicPr preferRelativeResize="0"/>
          <p:nvPr/>
        </p:nvPicPr>
        <p:blipFill>
          <a:blip r:embed="rId4">
            <a:alphaModFix/>
          </a:blip>
          <a:stretch>
            <a:fillRect/>
          </a:stretch>
        </p:blipFill>
        <p:spPr>
          <a:xfrm>
            <a:off x="6583625" y="186975"/>
            <a:ext cx="1002525" cy="10025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